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Selamat pagi/siang Prof. Arry dan rekan-rekan sekalian.</a:t>
            </a:r>
          </a:p>
          <a:p>
            <a:r>
              <a:t>Pada kesempatan ini kami mempresentasikan PharmaCAPA AI, sebuah inovasi kecerdasan buatan terapan untuk menjawab tantangan paling krusial di lantai produksi industri farmasi: investigasi deviasi mutu bets dan penyusunan CAPA.</a:t>
            </a:r>
          </a:p>
          <a:p>
            <a:r>
              <a:t>Aplikasi ini memadukan kepatuhan regulasi ketat BPOM CPOB 2018/2024 dan ICH Q9/Q10 dengan paradigma Pharma 4.0 agar investigasi penyimpangan mutu di pabrik tidak lagi bertele-tele di atas kertas, melainkan presisi, objektif, dan dapat diakses langsung oleh operator di lini produksi.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Dalam industri farmasi, satu bets obat bisa bernilai ratusan juta rupiah dan menyangkut keselamatan nyawa konsumen. Namun realitas di lapangan menunjukkan paradoks: di tengah mesin produksi modern, sistem pelaporan deviasi bets masih terjebak pada lembaran kertas rangkap manual. Ketika anomali terjadi saat shift malam, operator mencatat di clipboard, menunggu pagi untuk menyerahkannya ke supervisor, lalu diserahkan ke QA. Rantai informasi yang lambat ini menyebabkan penanganan insiden mutu tertunda.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Dampak dari sistem manual kertas sangat destruktif bagi pabrik farmasi. Berdasarkan pengamatan industri, lead time investigasi rata-rata mencapai 30 hingga 45 hari. Selama itu, bets bernilai ratusan juta mandek di karantina. Yang lebih berbahaya adalah kecenderungan investigasi dangkal yang menyalahkan personil atau 'human error'. Karena akar masalah mekanik atau metode tidak diperbaiki, deviasi berulang di bets berikutnya. Ini menjadi sasaran temuan audit kritis saat inspeksi BPOM.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Penerapan Pharma 4.0 bukan sekadar digitalisasi tanpa arah, melainkan menghubungkan lantai produksi dengan kecerdasan komputasi. Melalui Pharma 4.0, operator dapat langsung melaporkan anomali proses lewat gawai steril di ruang bersih. AI Copilot bertindak sebagai partner berpikir yang membedah anomali data, mengeliminasi bias subjektif, dan memastikan kepatuhan regulasi data integritas ALCOA+ terpenuhi secara otomatis.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Kepatuhan regulasi adalah pondasi mutlak dalam farmasi. PharmaCAPA AI dibangun dengan mengacu langsung pada pedoman resmi: CPOB BPOM 2018/2024 Bab 1 dan Aneks 1 steril, ICH Q9 untuk evaluasi risiko berbasis RPN, ICH Q10 untuk penanganan siklus CAPA dan review efektivitas, serta FDA 21 CFR Part 211. Sistem ini bukan sekadar alat bantu ketik, melainkan sistem pemastian kepatuhan regulasi otomatis.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Arsitektur PharmaCAPA AI memiliki keunggulan unik melalui Dual-Engine AI. Seringkali di dalam ruang produksi steril, koneksi internet dibatasi. Oleh karena itu, kami menyematkan Offline Heuristic Engine yang tetap dapat menganalisis data, menghitung RPN, dan membuat diagram 6M tanpa internet sama sekali. Jika terhubung ke internet, sistem dapat mengaktifkan Cloud Gemini LLM untuk penalaran mendalam. Sistem ini juga dilengkapi 4 studi kasus deviasi industri riil.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Fitur utama PharmaCAPA AI adalah investigasi akar masalah berbasis metode ilmiah 6M dan 5-Whys. Sistem secara otomatis memetakan dugaan penyebab ke dalam 6 cabang Ishikawa: Man, Machine, Material, Method, Measurement, dan Milieu. Kemudian sistem menelusuri 5 tingkat 'Mengapa'. Sebagai contoh pada kasus disolusi OOS: akar masalah sebenarnya bukan operator yang lalai, melainkan sensor tekanan mesin yang mengalami drift dan alarm HMI yang dinonaktifkan tanpa verifikasi pra-produksi.</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Untuk menghilangkan perdebatan dan subjektivitas antar personil, sistem menerapkan algoritma RPN kuantitatif berstandar ICH Q9. Parameter Severity, Probability, dan Detectability dikalikan secara otomatis. Nilai RPN ini langsung memicu klasifikasi deviasi menjadi Minor, Major, atau Critical, serta memberikan rekomendasi Disposisi Bets resmi CPOB seketika: apakah bets harus dikarantina untuk pengujian diperluas, atau harus ditolak.</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Kami sangat memprioritaskan kemudahan pemakaian oleh operator lini produksi. Operator memakai sarung tangan karet dan pakaian steril, sehingga tidak mungkin menggunakan laptop di ruang bersih. Oleh karena itu, antarmuka PharmaCAPA AI dirancang mobile-first, sangat kontras, dan dapat dibuka langsung melalui Safari di iPhone maupun Chrome di Android tanpa perlu instalasi aplikasi tambahan. Cukup ketuk preset kasus, dan analisis langsung tersaji.</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 industri farmasi berlaku prinsip: 'If it is not documented, it did not happen'. PharmaCAPA AI menyediakan fitur ekspor dokumen resmi berstandar CPOB melalui scroll-down selector dropdown. Pengguna dapat memilih format Microsoft Word untuk diedit dan disesuaikan, atau format PDF A4 yang siap dicetak dengan pembagian halaman rapi. Dokumen ini lengkap dengan kop surat, tabel 6M, tabel tindakan CAPA, dan kolom tanda tangan pejabat berwenang.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Tabel ini menunjukkan hasil komparasi kuantitatif sebelum dan sesudah implementasi PharmaCAPA AI. Pelaporan awal terpangkas dari 8 jam menjadi di bawah 3 menit. Pembuatan diagram 6M yang biasanya butuh berhari-hari kini terjadi seketika. Dan yang paling impresif, total lead time investigasi yang sebelumnya memakan waktu hingga 45 hari berhasil dipangkas menjadi kurang dari 3 hari kerja. Ini menghemat ratusan juta rupiah biaya holding bets di gudang karantina pabrik.</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Sebagai kesimpulan, PharmaCAPA AI bukan hanya proyek konseptual, melainkan cetak biru implementasi nyata Pharma 4.0 di Indonesia yang siap pakai dan teruji. Ke depan, kami berencana menghubungkan sistem ini langsung ke sensor IoT mesin industri farmasi dan rekam bets elektronik. Terima kasih banyak atas bimbingan Prof. Arry. Kami membuka sesi tanya jawab dan diskusi.</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9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97280" y="914400"/>
            <a:ext cx="9966960" cy="5029200"/>
          </a:xfrm>
          <a:prstGeom prst="roundRect">
            <a:avLst/>
          </a:prstGeom>
          <a:solidFill>
            <a:srgbClr val="132A45"/>
          </a:solidFill>
          <a:ln w="254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463040" y="1188720"/>
            <a:ext cx="9235440" cy="4389120"/>
          </a:xfrm>
          <a:prstGeom prst="rect">
            <a:avLst/>
          </a:prstGeom>
          <a:noFill/>
        </p:spPr>
        <p:txBody>
          <a:bodyPr wrap="square">
            <a:spAutoFit/>
          </a:bodyPr>
          <a:lstStyle/>
          <a:p>
            <a:pPr>
              <a:defRPr sz="1200" b="1">
                <a:solidFill>
                  <a:srgbClr val="38BDF8"/>
                </a:solidFill>
              </a:defRPr>
            </a:pPr>
            <a:r>
              <a:t>✚  SISTEM KECERDASAN BUATAN INDUSTRI FARMASI — PHARMA 4.0</a:t>
            </a:r>
          </a:p>
          <a:p>
            <a:pPr>
              <a:defRPr sz="3000" b="1">
                <a:solidFill>
                  <a:srgbClr val="FFFFFF"/>
                </a:solidFill>
              </a:defRPr>
            </a:pPr>
            <a:r>
              <a:t>PharmaCAPA AI — Operator &amp; QA Deviation Copilot</a:t>
            </a:r>
          </a:p>
          <a:p>
            <a:pPr>
              <a:defRPr sz="1400">
                <a:solidFill>
                  <a:srgbClr val="CBD5E1"/>
                </a:solidFill>
              </a:defRPr>
            </a:pPr>
            <a:r>
              <a:t>Sistem Manajemen Deviasi Bets Cepat, Analisis Akar Masalah (6M Ishikawa &amp; 5-Whys), serta Penyusunan Dokumen CAPA Berstandar BPOM CPOB 2018/2024 &amp; ICH Q9/Q10</a:t>
            </a:r>
          </a:p>
          <a:p>
            <a:pPr>
              <a:defRPr>
                <a:solidFill>
                  <a:srgbClr val="0369A1"/>
                </a:solidFill>
              </a:defRPr>
            </a:pPr>
            <a:r>
              <a:t>―――――――――――――――――――――――――――――――――――――――――――――</a:t>
            </a:r>
          </a:p>
          <a:p>
            <a:pPr>
              <a:defRPr sz="1300" b="1">
                <a:solidFill>
                  <a:srgbClr val="FFFFFF"/>
                </a:solidFill>
              </a:defRPr>
            </a:pPr>
            <a:r>
              <a:t>• Dosen Pengampu  : Prof. Ir. Arry Akhmad Arman, M.T., Ph.D.</a:t>
            </a:r>
          </a:p>
          <a:p>
            <a:pPr>
              <a:defRPr sz="1300">
                <a:solidFill>
                  <a:srgbClr val="CBD5E1"/>
                </a:solidFill>
              </a:defRPr>
            </a:pPr>
            <a:r>
              <a:t>• Pengembang          : Tim PharmaCAPA AI</a:t>
            </a:r>
          </a:p>
          <a:p>
            <a:pPr>
              <a:defRPr sz="1200" b="1">
                <a:solidFill>
                  <a:srgbClr val="38BDF8"/>
                </a:solidFill>
              </a:defRPr>
            </a:pPr>
            <a:r>
              <a:t>• Tautan Resmi         : https://rismawatilaila.github.io/pharmacapa/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9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4114800" cy="320040"/>
          </a:xfrm>
          <a:prstGeom prst="roundRect">
            <a:avLst/>
          </a:prstGeom>
          <a:solidFill>
            <a:srgbClr val="0284C7"/>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FFFFF"/>
                </a:solidFill>
              </a:defRPr>
            </a:pPr>
            <a:r>
              <a:t>✚ KONDISI LAPANGAN EKSISTING</a:t>
            </a:r>
          </a:p>
        </p:txBody>
      </p:sp>
      <p:sp>
        <p:nvSpPr>
          <p:cNvPr id="4" name="TextBox 3"/>
          <p:cNvSpPr txBox="1"/>
          <p:nvPr/>
        </p:nvSpPr>
        <p:spPr>
          <a:xfrm>
            <a:off x="731520" y="777240"/>
            <a:ext cx="10698480" cy="548640"/>
          </a:xfrm>
          <a:prstGeom prst="rect">
            <a:avLst/>
          </a:prstGeom>
          <a:noFill/>
        </p:spPr>
        <p:txBody>
          <a:bodyPr wrap="square">
            <a:spAutoFit/>
          </a:bodyPr>
          <a:lstStyle/>
          <a:p>
            <a:pPr>
              <a:defRPr sz="2200" b="1">
                <a:solidFill>
                  <a:srgbClr val="FFFFFF"/>
                </a:solidFill>
              </a:defRPr>
            </a:pPr>
            <a:r>
              <a:t>Latar Belakang &amp; Realitas di Lantai Produksi Farmasi</a:t>
            </a:r>
          </a:p>
          <a:p>
            <a:pPr>
              <a:defRPr sz="1200">
                <a:solidFill>
                  <a:srgbClr val="38BDF8"/>
                </a:solidFill>
              </a:defRPr>
            </a:pPr>
            <a:r>
              <a:t>Karakteristik Industri Farmasi vs Realitas Alur Pelaporan Deviasi Saat Ini</a:t>
            </a:r>
          </a:p>
        </p:txBody>
      </p:sp>
      <p:sp>
        <p:nvSpPr>
          <p:cNvPr id="5" name="Rounded Rectangle 4"/>
          <p:cNvSpPr/>
          <p:nvPr/>
        </p:nvSpPr>
        <p:spPr>
          <a:xfrm>
            <a:off x="731520" y="1645920"/>
            <a:ext cx="5120640" cy="4572000"/>
          </a:xfrm>
          <a:prstGeom prst="roundRect">
            <a:avLst/>
          </a:prstGeom>
          <a:solidFill>
            <a:srgbClr val="132A45"/>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783080"/>
            <a:ext cx="4754880" cy="4297680"/>
          </a:xfrm>
          <a:prstGeom prst="rect">
            <a:avLst/>
          </a:prstGeom>
          <a:noFill/>
        </p:spPr>
        <p:txBody>
          <a:bodyPr wrap="square">
            <a:spAutoFit/>
          </a:bodyPr>
          <a:lstStyle/>
          <a:p>
            <a:pPr>
              <a:defRPr sz="1000" b="1">
                <a:solidFill>
                  <a:srgbClr val="38BDF8"/>
                </a:solidFill>
              </a:defRPr>
            </a:pPr>
            <a:r>
              <a:t>[KARAKTERISTIK INDUSTRI]</a:t>
            </a:r>
          </a:p>
          <a:p>
            <a:pPr>
              <a:defRPr sz="1500" b="1">
                <a:solidFill>
                  <a:srgbClr val="FFFFFF"/>
                </a:solidFill>
              </a:defRPr>
            </a:pPr>
            <a:r>
              <a:t>Karakteristik Pabrik Farmasi</a:t>
            </a:r>
          </a:p>
          <a:p>
            <a:pPr>
              <a:defRPr sz="1150">
                <a:solidFill>
                  <a:srgbClr val="CBD5E1"/>
                </a:solidFill>
              </a:defRPr>
            </a:pPr>
            <a:r>
              <a:t>•  Regulasi Paling Ketat: Memiliki prinsip Zero Defect Tolerance demi menjamin keselamatan jiwa pasien.</a:t>
            </a:r>
          </a:p>
          <a:p>
            <a:pPr>
              <a:defRPr sz="1150">
                <a:solidFill>
                  <a:srgbClr val="CBD5E1"/>
                </a:solidFill>
              </a:defRPr>
            </a:pPr>
            <a:r>
              <a:t>•  Nilai Finansial Tinggi: Satu bets obat komersial bernilai ratusan juta hingga miliaran rupiah.</a:t>
            </a:r>
          </a:p>
          <a:p>
            <a:pPr>
              <a:defRPr sz="1150">
                <a:solidFill>
                  <a:srgbClr val="CBD5E1"/>
                </a:solidFill>
              </a:defRPr>
            </a:pPr>
            <a:r>
              <a:t>•  Kritis Waktu: Setiap detik keterlambatan keputusan bets berisiko menyebabkan obat kadaluwarsa di karantina atau kelangkaan obat (drug shortage).</a:t>
            </a:r>
          </a:p>
          <a:p>
            <a:pPr>
              <a:defRPr sz="1150">
                <a:solidFill>
                  <a:srgbClr val="CBD5E1"/>
                </a:solidFill>
              </a:defRPr>
            </a:pPr>
            <a:r>
              <a:t>•  Lingkungan Khusus: Ruang produksi bersih (Cleanroom Kelas A-D) memiliki pembatasan ketat terhadap kontaminasi benda asing.</a:t>
            </a:r>
          </a:p>
        </p:txBody>
      </p:sp>
      <p:sp>
        <p:nvSpPr>
          <p:cNvPr id="7" name="Rounded Rectangle 6"/>
          <p:cNvSpPr/>
          <p:nvPr/>
        </p:nvSpPr>
        <p:spPr>
          <a:xfrm>
            <a:off x="6217920" y="1645920"/>
            <a:ext cx="5212080" cy="4572000"/>
          </a:xfrm>
          <a:prstGeom prst="roundRect">
            <a:avLst/>
          </a:prstGeom>
          <a:solidFill>
            <a:srgbClr val="132A45"/>
          </a:solidFill>
          <a:ln w="1905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783080"/>
            <a:ext cx="4846320" cy="4297680"/>
          </a:xfrm>
          <a:prstGeom prst="rect">
            <a:avLst/>
          </a:prstGeom>
          <a:noFill/>
        </p:spPr>
        <p:txBody>
          <a:bodyPr wrap="square">
            <a:spAutoFit/>
          </a:bodyPr>
          <a:lstStyle/>
          <a:p>
            <a:pPr>
              <a:defRPr sz="1000" b="1">
                <a:solidFill>
                  <a:srgbClr val="38BDF8"/>
                </a:solidFill>
              </a:defRPr>
            </a:pPr>
            <a:r>
              <a:t>[KONDISI EKSISTING]</a:t>
            </a:r>
          </a:p>
          <a:p>
            <a:pPr>
              <a:defRPr sz="1500" b="1">
                <a:solidFill>
                  <a:srgbClr val="FFFFFF"/>
                </a:solidFill>
              </a:defRPr>
            </a:pPr>
            <a:r>
              <a:t>Realitas Alur di Lapangan Saat Ini</a:t>
            </a:r>
          </a:p>
          <a:p>
            <a:pPr>
              <a:defRPr sz="1150">
                <a:solidFill>
                  <a:srgbClr val="CBD5E1"/>
                </a:solidFill>
              </a:defRPr>
            </a:pPr>
            <a:r>
              <a:t>•  Dominasi Kertas Manual: Lebih dari 85% pabrik masih mengandalkan lembaran formulir fisik rangkap di clipboard.</a:t>
            </a:r>
          </a:p>
          <a:p>
            <a:pPr>
              <a:defRPr sz="1150">
                <a:solidFill>
                  <a:srgbClr val="CBD5E1"/>
                </a:solidFill>
              </a:defRPr>
            </a:pPr>
            <a:r>
              <a:t>•  Rantai Birokrasi Lambat: Operator mencatat di kertas -&gt; diserahkan fisik ke Supervisor shift -&gt; dibawa manual ke kantor Quality Assurance (QA).</a:t>
            </a:r>
          </a:p>
          <a:p>
            <a:pPr>
              <a:defRPr sz="1150">
                <a:solidFill>
                  <a:srgbClr val="CBD5E1"/>
                </a:solidFill>
              </a:defRPr>
            </a:pPr>
            <a:r>
              <a:t>•  Keterlambatan Pelaporan: Insiden shift malam sering baru dilaporkan keesokan harinya sehingga data mengandalkan ingatan (recall bias).</a:t>
            </a:r>
          </a:p>
          <a:p>
            <a:pPr>
              <a:defRPr sz="1150">
                <a:solidFill>
                  <a:srgbClr val="CBD5E1"/>
                </a:solidFill>
              </a:defRPr>
            </a:pPr>
            <a:r>
              <a:t>•  Silo Antar Divisi: Kordinasi antara Operator Lini, Teknisi Mesin, dan Analis QC terhambat rapat-rapat fisik berkepanjangan.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9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4114800" cy="320040"/>
          </a:xfrm>
          <a:prstGeom prst="roundRect">
            <a:avLst/>
          </a:prstGeom>
          <a:solidFill>
            <a:srgbClr val="0284C7"/>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FFFFF"/>
                </a:solidFill>
              </a:defRPr>
            </a:pPr>
            <a:r>
              <a:t>✚ PAIN POINTS &amp; DAMPAK NEGATIF</a:t>
            </a:r>
          </a:p>
        </p:txBody>
      </p:sp>
      <p:sp>
        <p:nvSpPr>
          <p:cNvPr id="4" name="TextBox 3"/>
          <p:cNvSpPr txBox="1"/>
          <p:nvPr/>
        </p:nvSpPr>
        <p:spPr>
          <a:xfrm>
            <a:off x="731520" y="777240"/>
            <a:ext cx="10698480" cy="548640"/>
          </a:xfrm>
          <a:prstGeom prst="rect">
            <a:avLst/>
          </a:prstGeom>
          <a:noFill/>
        </p:spPr>
        <p:txBody>
          <a:bodyPr wrap="square">
            <a:spAutoFit/>
          </a:bodyPr>
          <a:lstStyle/>
          <a:p>
            <a:pPr>
              <a:defRPr sz="2200" b="1">
                <a:solidFill>
                  <a:srgbClr val="FFFFFF"/>
                </a:solidFill>
              </a:defRPr>
            </a:pPr>
            <a:r>
              <a:t>The Silent Killer: Dampak Penanganan Deviasi Berbasis Kertas</a:t>
            </a:r>
          </a:p>
          <a:p>
            <a:pPr>
              <a:defRPr sz="1200">
                <a:solidFill>
                  <a:srgbClr val="38BDF8"/>
                </a:solidFill>
              </a:defRPr>
            </a:pPr>
            <a:r>
              <a:t>Kerugian Finansial, Deviasi Berulang, dan Risiko Kegagalan Audit CPOB</a:t>
            </a:r>
          </a:p>
        </p:txBody>
      </p:sp>
      <p:sp>
        <p:nvSpPr>
          <p:cNvPr id="5" name="Rounded Rectangle 4"/>
          <p:cNvSpPr/>
          <p:nvPr/>
        </p:nvSpPr>
        <p:spPr>
          <a:xfrm>
            <a:off x="731520" y="1645920"/>
            <a:ext cx="5120640" cy="2194560"/>
          </a:xfrm>
          <a:prstGeom prst="roundRect">
            <a:avLst/>
          </a:prstGeom>
          <a:solidFill>
            <a:srgbClr val="132A45"/>
          </a:solidFill>
          <a:ln w="19050">
            <a:solidFill>
              <a:srgbClr val="B91C1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783080"/>
            <a:ext cx="4754880" cy="1920240"/>
          </a:xfrm>
          <a:prstGeom prst="rect">
            <a:avLst/>
          </a:prstGeom>
          <a:noFill/>
        </p:spPr>
        <p:txBody>
          <a:bodyPr wrap="square">
            <a:spAutoFit/>
          </a:bodyPr>
          <a:lstStyle/>
          <a:p>
            <a:pPr>
              <a:defRPr sz="1000" b="1">
                <a:solidFill>
                  <a:srgbClr val="38BDF8"/>
                </a:solidFill>
              </a:defRPr>
            </a:pPr>
            <a:r>
              <a:t>[LEAD TIME KRITIS]</a:t>
            </a:r>
          </a:p>
          <a:p>
            <a:pPr>
              <a:defRPr sz="1500" b="1">
                <a:solidFill>
                  <a:srgbClr val="FFFFFF"/>
                </a:solidFill>
              </a:defRPr>
            </a:pPr>
            <a:r>
              <a:t>1. Lead Time Terlalu Panjang (30-45 Hari)</a:t>
            </a:r>
          </a:p>
          <a:p>
            <a:pPr>
              <a:defRPr sz="1150">
                <a:solidFill>
                  <a:srgbClr val="CBD5E1"/>
                </a:solidFill>
              </a:defRPr>
            </a:pPr>
            <a:r>
              <a:t>•  Investigasi manual memakan waktu lebih dari 1 bulan kerja.</a:t>
            </a:r>
          </a:p>
          <a:p>
            <a:pPr>
              <a:defRPr sz="1150">
                <a:solidFill>
                  <a:srgbClr val="CBD5E1"/>
                </a:solidFill>
              </a:defRPr>
            </a:pPr>
            <a:r>
              <a:t>•  Bets tertahan di gudang karantina (holding cost tinggi).</a:t>
            </a:r>
          </a:p>
          <a:p>
            <a:pPr>
              <a:defRPr sz="1150">
                <a:solidFill>
                  <a:srgbClr val="CBD5E1"/>
                </a:solidFill>
              </a:defRPr>
            </a:pPr>
            <a:r>
              <a:t>•  Risiko penundaan suplai obat ke rumah sakit/apotek.</a:t>
            </a:r>
          </a:p>
        </p:txBody>
      </p:sp>
      <p:sp>
        <p:nvSpPr>
          <p:cNvPr id="7" name="Rounded Rectangle 6"/>
          <p:cNvSpPr/>
          <p:nvPr/>
        </p:nvSpPr>
        <p:spPr>
          <a:xfrm>
            <a:off x="6217920" y="1645920"/>
            <a:ext cx="5212080" cy="2194560"/>
          </a:xfrm>
          <a:prstGeom prst="roundRect">
            <a:avLst/>
          </a:prstGeom>
          <a:solidFill>
            <a:srgbClr val="132A45"/>
          </a:solidFill>
          <a:ln w="1905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783080"/>
            <a:ext cx="4846320" cy="1920240"/>
          </a:xfrm>
          <a:prstGeom prst="rect">
            <a:avLst/>
          </a:prstGeom>
          <a:noFill/>
        </p:spPr>
        <p:txBody>
          <a:bodyPr wrap="square">
            <a:spAutoFit/>
          </a:bodyPr>
          <a:lstStyle/>
          <a:p>
            <a:pPr>
              <a:defRPr sz="1000" b="1">
                <a:solidFill>
                  <a:srgbClr val="38BDF8"/>
                </a:solidFill>
              </a:defRPr>
            </a:pPr>
            <a:r>
              <a:t>[BIAS INVESTIGASI]</a:t>
            </a:r>
          </a:p>
          <a:p>
            <a:pPr>
              <a:defRPr sz="1500" b="1">
                <a:solidFill>
                  <a:srgbClr val="FFFFFF"/>
                </a:solidFill>
              </a:defRPr>
            </a:pPr>
            <a:r>
              <a:t>2. Investigasi Dangkal (Superficial RCA)</a:t>
            </a:r>
          </a:p>
          <a:p>
            <a:pPr>
              <a:defRPr sz="1150">
                <a:solidFill>
                  <a:srgbClr val="CBD5E1"/>
                </a:solidFill>
              </a:defRPr>
            </a:pPr>
            <a:r>
              <a:t>•  &gt; 70% laporan manual berhenti pada kesimpulan klise: 'Human Error'.</a:t>
            </a:r>
          </a:p>
          <a:p>
            <a:pPr>
              <a:defRPr sz="1150">
                <a:solidFill>
                  <a:srgbClr val="CBD5E1"/>
                </a:solidFill>
              </a:defRPr>
            </a:pPr>
            <a:r>
              <a:t>•  Solusi semu selalu pelatihan ulang (retraining operator).</a:t>
            </a:r>
          </a:p>
          <a:p>
            <a:pPr>
              <a:defRPr sz="1150">
                <a:solidFill>
                  <a:srgbClr val="CBD5E1"/>
                </a:solidFill>
              </a:defRPr>
            </a:pPr>
            <a:r>
              <a:t>•  Akar masalah mekanis &amp; metode tidak pernah tersentuh.</a:t>
            </a:r>
          </a:p>
        </p:txBody>
      </p:sp>
      <p:sp>
        <p:nvSpPr>
          <p:cNvPr id="9" name="Rounded Rectangle 8"/>
          <p:cNvSpPr/>
          <p:nvPr/>
        </p:nvSpPr>
        <p:spPr>
          <a:xfrm>
            <a:off x="731520" y="4114800"/>
            <a:ext cx="5120640" cy="2194560"/>
          </a:xfrm>
          <a:prstGeom prst="roundRect">
            <a:avLst/>
          </a:prstGeom>
          <a:solidFill>
            <a:srgbClr val="132A45"/>
          </a:solidFill>
          <a:ln w="19050">
            <a:solidFill>
              <a:srgbClr val="B91C1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4251960"/>
            <a:ext cx="4754880" cy="1920240"/>
          </a:xfrm>
          <a:prstGeom prst="rect">
            <a:avLst/>
          </a:prstGeom>
          <a:noFill/>
        </p:spPr>
        <p:txBody>
          <a:bodyPr wrap="square">
            <a:spAutoFit/>
          </a:bodyPr>
          <a:lstStyle/>
          <a:p>
            <a:pPr>
              <a:defRPr sz="1000" b="1">
                <a:solidFill>
                  <a:srgbClr val="38BDF8"/>
                </a:solidFill>
              </a:defRPr>
            </a:pPr>
            <a:r>
              <a:t>[KEGAGALAN SISTEMIK]</a:t>
            </a:r>
          </a:p>
          <a:p>
            <a:pPr>
              <a:defRPr sz="1500" b="1">
                <a:solidFill>
                  <a:srgbClr val="FFFFFF"/>
                </a:solidFill>
              </a:defRPr>
            </a:pPr>
            <a:r>
              <a:t>3. Deviasi Berulang (Repeat Deviations)</a:t>
            </a:r>
          </a:p>
          <a:p>
            <a:pPr>
              <a:defRPr sz="1150">
                <a:solidFill>
                  <a:srgbClr val="CBD5E1"/>
                </a:solidFill>
              </a:defRPr>
            </a:pPr>
            <a:r>
              <a:t>•  Karena akar masalah sistemik tidak terselesaikan, deviasi terulang kembali.</a:t>
            </a:r>
          </a:p>
          <a:p>
            <a:pPr>
              <a:defRPr sz="1150">
                <a:solidFill>
                  <a:srgbClr val="CBD5E1"/>
                </a:solidFill>
              </a:defRPr>
            </a:pPr>
            <a:r>
              <a:t>•  Peningkatan scrap rate dan pemborosan bahan baku obat.</a:t>
            </a:r>
          </a:p>
          <a:p>
            <a:pPr>
              <a:defRPr sz="1150">
                <a:solidFill>
                  <a:srgbClr val="CBD5E1"/>
                </a:solidFill>
              </a:defRPr>
            </a:pPr>
            <a:r>
              <a:t>•  Penurunan produktivitas fasilitas manufaktur.</a:t>
            </a:r>
          </a:p>
        </p:txBody>
      </p:sp>
      <p:sp>
        <p:nvSpPr>
          <p:cNvPr id="11" name="Rounded Rectangle 10"/>
          <p:cNvSpPr/>
          <p:nvPr/>
        </p:nvSpPr>
        <p:spPr>
          <a:xfrm>
            <a:off x="6217920" y="4114800"/>
            <a:ext cx="5212080" cy="2194560"/>
          </a:xfrm>
          <a:prstGeom prst="roundRect">
            <a:avLst/>
          </a:prstGeom>
          <a:solidFill>
            <a:srgbClr val="132A45"/>
          </a:solidFill>
          <a:ln w="19050">
            <a:solidFill>
              <a:srgbClr val="0369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4251960"/>
            <a:ext cx="4846320" cy="1920240"/>
          </a:xfrm>
          <a:prstGeom prst="rect">
            <a:avLst/>
          </a:prstGeom>
          <a:noFill/>
        </p:spPr>
        <p:txBody>
          <a:bodyPr wrap="square">
            <a:spAutoFit/>
          </a:bodyPr>
          <a:lstStyle/>
          <a:p>
            <a:pPr>
              <a:defRPr sz="1000" b="1">
                <a:solidFill>
                  <a:srgbClr val="38BDF8"/>
                </a:solidFill>
              </a:defRPr>
            </a:pPr>
            <a:r>
              <a:t>[KEPATUHAN HUKUM]</a:t>
            </a:r>
          </a:p>
          <a:p>
            <a:pPr>
              <a:defRPr sz="1500" b="1">
                <a:solidFill>
                  <a:srgbClr val="FFFFFF"/>
                </a:solidFill>
              </a:defRPr>
            </a:pPr>
            <a:r>
              <a:t>4. Risiko Temuan Audit BPOM &amp; ALCOA+</a:t>
            </a:r>
          </a:p>
          <a:p>
            <a:pPr>
              <a:defRPr sz="1150">
                <a:solidFill>
                  <a:srgbClr val="CBD5E1"/>
                </a:solidFill>
              </a:defRPr>
            </a:pPr>
            <a:r>
              <a:t>•  Dokumen fisik rawan tercecer, rusak, atau tulisan tidak terbaca.</a:t>
            </a:r>
          </a:p>
          <a:p>
            <a:pPr>
              <a:defRPr sz="1150">
                <a:solidFill>
                  <a:srgbClr val="CBD5E1"/>
                </a:solidFill>
              </a:defRPr>
            </a:pPr>
            <a:r>
              <a:t>•  Melanggar prinsip Data Integrity ALCOA+ (Legible &amp; Contemporaneous).</a:t>
            </a:r>
          </a:p>
          <a:p>
            <a:pPr>
              <a:defRPr sz="1150">
                <a:solidFill>
                  <a:srgbClr val="CBD5E1"/>
                </a:solidFill>
              </a:defRPr>
            </a:pPr>
            <a:r>
              <a:t>•  Ancaman pembekuan izin edar / sanksi CPOB dari BPOM.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9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4114800" cy="320040"/>
          </a:xfrm>
          <a:prstGeom prst="roundRect">
            <a:avLst/>
          </a:prstGeom>
          <a:solidFill>
            <a:srgbClr val="0284C7"/>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FFFFF"/>
                </a:solidFill>
              </a:defRPr>
            </a:pPr>
            <a:r>
              <a:t>✚ TRANSFORMASI DIGITAL INDUSTRI</a:t>
            </a:r>
          </a:p>
        </p:txBody>
      </p:sp>
      <p:sp>
        <p:nvSpPr>
          <p:cNvPr id="4" name="TextBox 3"/>
          <p:cNvSpPr txBox="1"/>
          <p:nvPr/>
        </p:nvSpPr>
        <p:spPr>
          <a:xfrm>
            <a:off x="731520" y="777240"/>
            <a:ext cx="10698480" cy="548640"/>
          </a:xfrm>
          <a:prstGeom prst="rect">
            <a:avLst/>
          </a:prstGeom>
          <a:noFill/>
        </p:spPr>
        <p:txBody>
          <a:bodyPr wrap="square">
            <a:spAutoFit/>
          </a:bodyPr>
          <a:lstStyle/>
          <a:p>
            <a:pPr>
              <a:defRPr sz="2200" b="1">
                <a:solidFill>
                  <a:srgbClr val="FFFFFF"/>
                </a:solidFill>
              </a:defRPr>
            </a:pPr>
            <a:r>
              <a:t>Paradigma Pharma 4.0: Mengapa Industri Membutuhkan AI?</a:t>
            </a:r>
          </a:p>
          <a:p>
            <a:pPr>
              <a:defRPr sz="1200">
                <a:solidFill>
                  <a:srgbClr val="38BDF8"/>
                </a:solidFill>
              </a:defRPr>
            </a:pPr>
            <a:r>
              <a:t>Mengadopsi Kerangka Kerja ISPE Pharma 4.0 untuk Keunggulan Operasional</a:t>
            </a:r>
          </a:p>
        </p:txBody>
      </p:sp>
      <p:sp>
        <p:nvSpPr>
          <p:cNvPr id="5" name="Rounded Rectangle 4"/>
          <p:cNvSpPr/>
          <p:nvPr/>
        </p:nvSpPr>
        <p:spPr>
          <a:xfrm>
            <a:off x="731520" y="1645920"/>
            <a:ext cx="3291840" cy="4572000"/>
          </a:xfrm>
          <a:prstGeom prst="roundRect">
            <a:avLst/>
          </a:prstGeom>
          <a:solidFill>
            <a:srgbClr val="132A45"/>
          </a:solidFill>
          <a:ln w="19050">
            <a:solidFill>
              <a:srgbClr val="0369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783080"/>
            <a:ext cx="2926080" cy="4297680"/>
          </a:xfrm>
          <a:prstGeom prst="rect">
            <a:avLst/>
          </a:prstGeom>
          <a:noFill/>
        </p:spPr>
        <p:txBody>
          <a:bodyPr wrap="square">
            <a:spAutoFit/>
          </a:bodyPr>
          <a:lstStyle/>
          <a:p>
            <a:pPr>
              <a:defRPr sz="1000" b="1">
                <a:solidFill>
                  <a:srgbClr val="38BDF8"/>
                </a:solidFill>
              </a:defRPr>
            </a:pPr>
            <a:r>
              <a:t>[KONEKTIVITAS]</a:t>
            </a:r>
          </a:p>
          <a:p>
            <a:pPr>
              <a:defRPr sz="1500" b="1">
                <a:solidFill>
                  <a:srgbClr val="FFFFFF"/>
                </a:solidFill>
              </a:defRPr>
            </a:pPr>
            <a:r>
              <a:t>1. Digital Connectivity</a:t>
            </a:r>
          </a:p>
          <a:p>
            <a:pPr>
              <a:defRPr sz="1150">
                <a:solidFill>
                  <a:srgbClr val="CBD5E1"/>
                </a:solidFill>
              </a:defRPr>
            </a:pPr>
            <a:r>
              <a:t>•  Konektivitas langsung di lini produksi ruang bersih (Cleanroom).</a:t>
            </a:r>
          </a:p>
          <a:p>
            <a:pPr>
              <a:defRPr sz="1150">
                <a:solidFill>
                  <a:srgbClr val="CBD5E1"/>
                </a:solidFill>
              </a:defRPr>
            </a:pPr>
            <a:r>
              <a:t>•  Pelaporan insiden via gawai smartphone / tablet portabel.</a:t>
            </a:r>
          </a:p>
          <a:p>
            <a:pPr>
              <a:defRPr sz="1150">
                <a:solidFill>
                  <a:srgbClr val="CBD5E1"/>
                </a:solidFill>
              </a:defRPr>
            </a:pPr>
            <a:r>
              <a:t>•  Menghilangkan transfer kertas fisik keluar-masuk ruang steril.</a:t>
            </a:r>
          </a:p>
          <a:p>
            <a:pPr>
              <a:defRPr sz="1150">
                <a:solidFill>
                  <a:srgbClr val="CBD5E1"/>
                </a:solidFill>
              </a:defRPr>
            </a:pPr>
            <a:r>
              <a:t>•  Pelaporan seketika saat anomali terdeteksi (Real-Time).</a:t>
            </a:r>
          </a:p>
        </p:txBody>
      </p:sp>
      <p:sp>
        <p:nvSpPr>
          <p:cNvPr id="7" name="Rounded Rectangle 6"/>
          <p:cNvSpPr/>
          <p:nvPr/>
        </p:nvSpPr>
        <p:spPr>
          <a:xfrm>
            <a:off x="4389120" y="1645920"/>
            <a:ext cx="3291840" cy="4572000"/>
          </a:xfrm>
          <a:prstGeom prst="roundRect">
            <a:avLst/>
          </a:prstGeom>
          <a:solidFill>
            <a:srgbClr val="132A45"/>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0" y="1783080"/>
            <a:ext cx="2926080" cy="4297680"/>
          </a:xfrm>
          <a:prstGeom prst="rect">
            <a:avLst/>
          </a:prstGeom>
          <a:noFill/>
        </p:spPr>
        <p:txBody>
          <a:bodyPr wrap="square">
            <a:spAutoFit/>
          </a:bodyPr>
          <a:lstStyle/>
          <a:p>
            <a:pPr>
              <a:defRPr sz="1000" b="1">
                <a:solidFill>
                  <a:srgbClr val="38BDF8"/>
                </a:solidFill>
              </a:defRPr>
            </a:pPr>
            <a:r>
              <a:t>[KECERDASAN BUATAN]</a:t>
            </a:r>
          </a:p>
          <a:p>
            <a:pPr>
              <a:defRPr sz="1500" b="1">
                <a:solidFill>
                  <a:srgbClr val="FFFFFF"/>
                </a:solidFill>
              </a:defRPr>
            </a:pPr>
            <a:r>
              <a:t>2. AI-Assisted RCA</a:t>
            </a:r>
          </a:p>
          <a:p>
            <a:pPr>
              <a:defRPr sz="1150">
                <a:solidFill>
                  <a:srgbClr val="CBD5E1"/>
                </a:solidFill>
              </a:defRPr>
            </a:pPr>
            <a:r>
              <a:t>•  Inferensi heuristik cerdas untuk analisis kausalitas mendalam.</a:t>
            </a:r>
          </a:p>
          <a:p>
            <a:pPr>
              <a:defRPr sz="1150">
                <a:solidFill>
                  <a:srgbClr val="CBD5E1"/>
                </a:solidFill>
              </a:defRPr>
            </a:pPr>
            <a:r>
              <a:t>•  Otomasi pembuatan Diagram Tulang Ikan 6M (Ishikawa).</a:t>
            </a:r>
          </a:p>
          <a:p>
            <a:pPr>
              <a:defRPr sz="1150">
                <a:solidFill>
                  <a:srgbClr val="CBD5E1"/>
                </a:solidFill>
              </a:defRPr>
            </a:pPr>
            <a:r>
              <a:t>•  Penelusuran rantai penalaran 5-Whys terstruktur.</a:t>
            </a:r>
          </a:p>
          <a:p>
            <a:pPr>
              <a:defRPr sz="1150">
                <a:solidFill>
                  <a:srgbClr val="CBD5E1"/>
                </a:solidFill>
              </a:defRPr>
            </a:pPr>
            <a:r>
              <a:t>•  Menghilangkan bias subjektif antar personil investigasi.</a:t>
            </a:r>
          </a:p>
        </p:txBody>
      </p:sp>
      <p:sp>
        <p:nvSpPr>
          <p:cNvPr id="9" name="Rounded Rectangle 8"/>
          <p:cNvSpPr/>
          <p:nvPr/>
        </p:nvSpPr>
        <p:spPr>
          <a:xfrm>
            <a:off x="8046720" y="1645920"/>
            <a:ext cx="3383280" cy="4572000"/>
          </a:xfrm>
          <a:prstGeom prst="roundRect">
            <a:avLst/>
          </a:prstGeom>
          <a:solidFill>
            <a:srgbClr val="132A45"/>
          </a:solidFill>
          <a:ln w="19050">
            <a:solidFill>
              <a:srgbClr val="0369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0" y="1783080"/>
            <a:ext cx="3017520" cy="4297680"/>
          </a:xfrm>
          <a:prstGeom prst="rect">
            <a:avLst/>
          </a:prstGeom>
          <a:noFill/>
        </p:spPr>
        <p:txBody>
          <a:bodyPr wrap="square">
            <a:spAutoFit/>
          </a:bodyPr>
          <a:lstStyle/>
          <a:p>
            <a:pPr>
              <a:defRPr sz="1000" b="1">
                <a:solidFill>
                  <a:srgbClr val="38BDF8"/>
                </a:solidFill>
              </a:defRPr>
            </a:pPr>
            <a:r>
              <a:t>[KEPATUHAN TERINTEGRASI]</a:t>
            </a:r>
          </a:p>
          <a:p>
            <a:pPr>
              <a:defRPr sz="1500" b="1">
                <a:solidFill>
                  <a:srgbClr val="FFFFFF"/>
                </a:solidFill>
              </a:defRPr>
            </a:pPr>
            <a:r>
              <a:t>3. Data Integrity &amp; Trust</a:t>
            </a:r>
          </a:p>
          <a:p>
            <a:pPr>
              <a:defRPr sz="1150">
                <a:solidFill>
                  <a:srgbClr val="CBD5E1"/>
                </a:solidFill>
              </a:defRPr>
            </a:pPr>
            <a:r>
              <a:t>•  Pencatatan digital otomatis yang memenuhi standar ALCOA+.</a:t>
            </a:r>
          </a:p>
          <a:p>
            <a:pPr>
              <a:defRPr sz="1150">
                <a:solidFill>
                  <a:srgbClr val="CBD5E1"/>
                </a:solidFill>
              </a:defRPr>
            </a:pPr>
            <a:r>
              <a:t>•  Perhitungan matriks risiko objektif (ICH Q9 RPN Matrix).</a:t>
            </a:r>
          </a:p>
          <a:p>
            <a:pPr>
              <a:defRPr sz="1150">
                <a:solidFill>
                  <a:srgbClr val="CBD5E1"/>
                </a:solidFill>
              </a:defRPr>
            </a:pPr>
            <a:r>
              <a:t>•  Penerbitan dokumen CAPA tervalidasi siap audit BPOM.</a:t>
            </a:r>
          </a:p>
          <a:p>
            <a:pPr>
              <a:defRPr sz="1150">
                <a:solidFill>
                  <a:srgbClr val="CBD5E1"/>
                </a:solidFill>
              </a:defRPr>
            </a:pPr>
            <a:r>
              <a:t>•  Pemantauan batas waktu (Target Date) dan review efektivitas.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9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4114800" cy="320040"/>
          </a:xfrm>
          <a:prstGeom prst="roundRect">
            <a:avLst/>
          </a:prstGeom>
          <a:solidFill>
            <a:srgbClr val="0284C7"/>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FFFFF"/>
                </a:solidFill>
              </a:defRPr>
            </a:pPr>
            <a:r>
              <a:t>✚ STANDAR MUTU &amp; REGULASI FARMASI</a:t>
            </a:r>
          </a:p>
        </p:txBody>
      </p:sp>
      <p:sp>
        <p:nvSpPr>
          <p:cNvPr id="4" name="TextBox 3"/>
          <p:cNvSpPr txBox="1"/>
          <p:nvPr/>
        </p:nvSpPr>
        <p:spPr>
          <a:xfrm>
            <a:off x="731520" y="777240"/>
            <a:ext cx="10698480" cy="548640"/>
          </a:xfrm>
          <a:prstGeom prst="rect">
            <a:avLst/>
          </a:prstGeom>
          <a:noFill/>
        </p:spPr>
        <p:txBody>
          <a:bodyPr wrap="square">
            <a:spAutoFit/>
          </a:bodyPr>
          <a:lstStyle/>
          <a:p>
            <a:pPr>
              <a:defRPr sz="2200" b="1">
                <a:solidFill>
                  <a:srgbClr val="FFFFFF"/>
                </a:solidFill>
              </a:defRPr>
            </a:pPr>
            <a:r>
              <a:t>Landasan Regulasi: Menjamin Kepatuhan Hukum Mutu Obat</a:t>
            </a:r>
          </a:p>
          <a:p>
            <a:pPr>
              <a:defRPr sz="1200">
                <a:solidFill>
                  <a:srgbClr val="38BDF8"/>
                </a:solidFill>
              </a:defRPr>
            </a:pPr>
            <a:r>
              <a:t>Harmonisasi Standar BPOM CPOB 2018/2024, cGMP FDA, dan ICH Guidelines</a:t>
            </a:r>
          </a:p>
        </p:txBody>
      </p:sp>
      <p:sp>
        <p:nvSpPr>
          <p:cNvPr id="5" name="Rounded Rectangle 4"/>
          <p:cNvSpPr/>
          <p:nvPr/>
        </p:nvSpPr>
        <p:spPr>
          <a:xfrm>
            <a:off x="731520" y="1645920"/>
            <a:ext cx="5120640" cy="2194560"/>
          </a:xfrm>
          <a:prstGeom prst="roundRect">
            <a:avLst/>
          </a:prstGeom>
          <a:solidFill>
            <a:srgbClr val="132A45"/>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783080"/>
            <a:ext cx="4754880" cy="1920240"/>
          </a:xfrm>
          <a:prstGeom prst="rect">
            <a:avLst/>
          </a:prstGeom>
          <a:noFill/>
        </p:spPr>
        <p:txBody>
          <a:bodyPr wrap="square">
            <a:spAutoFit/>
          </a:bodyPr>
          <a:lstStyle/>
          <a:p>
            <a:pPr>
              <a:defRPr sz="1000" b="1">
                <a:solidFill>
                  <a:srgbClr val="38BDF8"/>
                </a:solidFill>
              </a:defRPr>
            </a:pPr>
            <a:r>
              <a:t>[REGULASI NASIONAL BPOM]</a:t>
            </a:r>
          </a:p>
          <a:p>
            <a:pPr>
              <a:defRPr sz="1500" b="1">
                <a:solidFill>
                  <a:srgbClr val="FFFFFF"/>
                </a:solidFill>
              </a:defRPr>
            </a:pPr>
            <a:r>
              <a:t>BPOM RI CPOB 2018 &amp; Pembaruan 2024</a:t>
            </a:r>
          </a:p>
          <a:p>
            <a:pPr>
              <a:defRPr sz="1150">
                <a:solidFill>
                  <a:srgbClr val="CBD5E1"/>
                </a:solidFill>
              </a:defRPr>
            </a:pPr>
            <a:r>
              <a:t>•  Bab 1 (Sistem Mutu Industri Farmasi): Penanganan deviasi sistematis &amp; investigasi komprehensif.</a:t>
            </a:r>
          </a:p>
          <a:p>
            <a:pPr>
              <a:defRPr sz="1150">
                <a:solidFill>
                  <a:srgbClr val="CBD5E1"/>
                </a:solidFill>
              </a:defRPr>
            </a:pPr>
            <a:r>
              <a:t>•  Aneks 1 (Produk Steril): Pengendalian partikulat &amp; mikrobiologi.</a:t>
            </a:r>
          </a:p>
          <a:p>
            <a:pPr>
              <a:defRPr sz="1150">
                <a:solidFill>
                  <a:srgbClr val="CBD5E1"/>
                </a:solidFill>
              </a:defRPr>
            </a:pPr>
            <a:r>
              <a:t>•  Mandat: Setiap bets OOS wajib diinvestigasi sebelum rilis.</a:t>
            </a:r>
          </a:p>
        </p:txBody>
      </p:sp>
      <p:sp>
        <p:nvSpPr>
          <p:cNvPr id="7" name="Rounded Rectangle 6"/>
          <p:cNvSpPr/>
          <p:nvPr/>
        </p:nvSpPr>
        <p:spPr>
          <a:xfrm>
            <a:off x="6217920" y="1645920"/>
            <a:ext cx="5212080" cy="2194560"/>
          </a:xfrm>
          <a:prstGeom prst="roundRect">
            <a:avLst/>
          </a:prstGeom>
          <a:solidFill>
            <a:srgbClr val="132A45"/>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783080"/>
            <a:ext cx="4846320" cy="1920240"/>
          </a:xfrm>
          <a:prstGeom prst="rect">
            <a:avLst/>
          </a:prstGeom>
          <a:noFill/>
        </p:spPr>
        <p:txBody>
          <a:bodyPr wrap="square">
            <a:spAutoFit/>
          </a:bodyPr>
          <a:lstStyle/>
          <a:p>
            <a:pPr>
              <a:defRPr sz="1000" b="1">
                <a:solidFill>
                  <a:srgbClr val="38BDF8"/>
                </a:solidFill>
              </a:defRPr>
            </a:pPr>
            <a:r>
              <a:t>[STANDAR RISIKO ICH Q9]</a:t>
            </a:r>
          </a:p>
          <a:p>
            <a:pPr>
              <a:defRPr sz="1500" b="1">
                <a:solidFill>
                  <a:srgbClr val="FFFFFF"/>
                </a:solidFill>
              </a:defRPr>
            </a:pPr>
            <a:r>
              <a:t>ICH Q9: Quality Risk Management (QRM)</a:t>
            </a:r>
          </a:p>
          <a:p>
            <a:pPr>
              <a:defRPr sz="1150">
                <a:solidFill>
                  <a:srgbClr val="CBD5E1"/>
                </a:solidFill>
              </a:defRPr>
            </a:pPr>
            <a:r>
              <a:t>•  Penetapan kuantitatif Risk Priority Number (RPN).</a:t>
            </a:r>
          </a:p>
          <a:p>
            <a:pPr>
              <a:defRPr sz="1150">
                <a:solidFill>
                  <a:srgbClr val="CBD5E1"/>
                </a:solidFill>
              </a:defRPr>
            </a:pPr>
            <a:r>
              <a:t>•  Formula: RPN = Severity (S) x Probability (P) x Detectability (D).</a:t>
            </a:r>
          </a:p>
          <a:p>
            <a:pPr>
              <a:defRPr sz="1150">
                <a:solidFill>
                  <a:srgbClr val="CBD5E1"/>
                </a:solidFill>
              </a:defRPr>
            </a:pPr>
            <a:r>
              <a:t>•  Klasifikasi dampak objektif: Critical, Major, atau Minor.</a:t>
            </a:r>
          </a:p>
        </p:txBody>
      </p:sp>
      <p:sp>
        <p:nvSpPr>
          <p:cNvPr id="9" name="Rounded Rectangle 8"/>
          <p:cNvSpPr/>
          <p:nvPr/>
        </p:nvSpPr>
        <p:spPr>
          <a:xfrm>
            <a:off x="731520" y="4114800"/>
            <a:ext cx="5120640" cy="2194560"/>
          </a:xfrm>
          <a:prstGeom prst="roundRect">
            <a:avLst/>
          </a:prstGeom>
          <a:solidFill>
            <a:srgbClr val="132A45"/>
          </a:solidFill>
          <a:ln w="19050">
            <a:solidFill>
              <a:srgbClr val="0369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4251960"/>
            <a:ext cx="4754880" cy="1920240"/>
          </a:xfrm>
          <a:prstGeom prst="rect">
            <a:avLst/>
          </a:prstGeom>
          <a:noFill/>
        </p:spPr>
        <p:txBody>
          <a:bodyPr wrap="square">
            <a:spAutoFit/>
          </a:bodyPr>
          <a:lstStyle/>
          <a:p>
            <a:pPr>
              <a:defRPr sz="1000" b="1">
                <a:solidFill>
                  <a:srgbClr val="38BDF8"/>
                </a:solidFill>
              </a:defRPr>
            </a:pPr>
            <a:r>
              <a:t>[SISTEM MUTU ICH Q10]</a:t>
            </a:r>
          </a:p>
          <a:p>
            <a:pPr>
              <a:defRPr sz="1500" b="1">
                <a:solidFill>
                  <a:srgbClr val="FFFFFF"/>
                </a:solidFill>
              </a:defRPr>
            </a:pPr>
            <a:r>
              <a:t>ICH Q10: Pharmaceutical Quality System (PQS)</a:t>
            </a:r>
          </a:p>
          <a:p>
            <a:pPr>
              <a:defRPr sz="1150">
                <a:solidFill>
                  <a:srgbClr val="CBD5E1"/>
                </a:solidFill>
              </a:defRPr>
            </a:pPr>
            <a:r>
              <a:t>•  Siklus perbaikan mutu berkesinambungan (Continuous Improvement).</a:t>
            </a:r>
          </a:p>
          <a:p>
            <a:pPr>
              <a:defRPr sz="1150">
                <a:solidFill>
                  <a:srgbClr val="CBD5E1"/>
                </a:solidFill>
              </a:defRPr>
            </a:pPr>
            <a:r>
              <a:t>•  Penyusunan Corrective Action (CA) &amp; Preventive Action (PA).</a:t>
            </a:r>
          </a:p>
          <a:p>
            <a:pPr>
              <a:defRPr sz="1150">
                <a:solidFill>
                  <a:srgbClr val="CBD5E1"/>
                </a:solidFill>
              </a:defRPr>
            </a:pPr>
            <a:r>
              <a:t>•  Kewajiban Tinjauan Efektivitas (Effectiveness Check 30-60 hari).</a:t>
            </a:r>
          </a:p>
        </p:txBody>
      </p:sp>
      <p:sp>
        <p:nvSpPr>
          <p:cNvPr id="11" name="Rounded Rectangle 10"/>
          <p:cNvSpPr/>
          <p:nvPr/>
        </p:nvSpPr>
        <p:spPr>
          <a:xfrm>
            <a:off x="6217920" y="4114800"/>
            <a:ext cx="5212080" cy="2194560"/>
          </a:xfrm>
          <a:prstGeom prst="roundRect">
            <a:avLst/>
          </a:prstGeom>
          <a:solidFill>
            <a:srgbClr val="132A45"/>
          </a:solidFill>
          <a:ln w="19050">
            <a:solidFill>
              <a:srgbClr val="0369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4251960"/>
            <a:ext cx="4846320" cy="1920240"/>
          </a:xfrm>
          <a:prstGeom prst="rect">
            <a:avLst/>
          </a:prstGeom>
          <a:noFill/>
        </p:spPr>
        <p:txBody>
          <a:bodyPr wrap="square">
            <a:spAutoFit/>
          </a:bodyPr>
          <a:lstStyle/>
          <a:p>
            <a:pPr>
              <a:defRPr sz="1000" b="1">
                <a:solidFill>
                  <a:srgbClr val="38BDF8"/>
                </a:solidFill>
              </a:defRPr>
            </a:pPr>
            <a:r>
              <a:t>[STANDAR GLOBAL FDA]</a:t>
            </a:r>
          </a:p>
          <a:p>
            <a:pPr>
              <a:defRPr sz="1500" b="1">
                <a:solidFill>
                  <a:srgbClr val="FFFFFF"/>
                </a:solidFill>
              </a:defRPr>
            </a:pPr>
            <a:r>
              <a:t>FDA 21 CFR Part 211 &amp; ALCOA+ Principles</a:t>
            </a:r>
          </a:p>
          <a:p>
            <a:pPr>
              <a:defRPr sz="1150">
                <a:solidFill>
                  <a:srgbClr val="CBD5E1"/>
                </a:solidFill>
              </a:defRPr>
            </a:pPr>
            <a:r>
              <a:t>•  21 CFR 211.192: Penyelidikan menyeluruh terhadap kegagalan bets.</a:t>
            </a:r>
          </a:p>
          <a:p>
            <a:pPr>
              <a:defRPr sz="1150">
                <a:solidFill>
                  <a:srgbClr val="CBD5E1"/>
                </a:solidFill>
              </a:defRPr>
            </a:pPr>
            <a:r>
              <a:t>•  Data Integrity ALCOA+: Attributable, Legible, Contemporaneous, Original, and Accurate.</a:t>
            </a:r>
          </a:p>
          <a:p>
            <a:pPr>
              <a:defRPr sz="1150">
                <a:solidFill>
                  <a:srgbClr val="CBD5E1"/>
                </a:solidFill>
              </a:defRPr>
            </a:pPr>
            <a:r>
              <a:t>•  Jejak rekam digital yang terverifikasi dan siap diaudit.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9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4114800" cy="320040"/>
          </a:xfrm>
          <a:prstGeom prst="roundRect">
            <a:avLst/>
          </a:prstGeom>
          <a:solidFill>
            <a:srgbClr val="0284C7"/>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FFFFF"/>
                </a:solidFill>
              </a:defRPr>
            </a:pPr>
            <a:r>
              <a:t>✚ INOVASI SOLUSI</a:t>
            </a:r>
          </a:p>
        </p:txBody>
      </p:sp>
      <p:sp>
        <p:nvSpPr>
          <p:cNvPr id="4" name="TextBox 3"/>
          <p:cNvSpPr txBox="1"/>
          <p:nvPr/>
        </p:nvSpPr>
        <p:spPr>
          <a:xfrm>
            <a:off x="731520" y="777240"/>
            <a:ext cx="10698480" cy="548640"/>
          </a:xfrm>
          <a:prstGeom prst="rect">
            <a:avLst/>
          </a:prstGeom>
          <a:noFill/>
        </p:spPr>
        <p:txBody>
          <a:bodyPr wrap="square">
            <a:spAutoFit/>
          </a:bodyPr>
          <a:lstStyle/>
          <a:p>
            <a:pPr>
              <a:defRPr sz="2200" b="1">
                <a:solidFill>
                  <a:srgbClr val="FFFFFF"/>
                </a:solidFill>
              </a:defRPr>
            </a:pPr>
            <a:r>
              <a:t>Solusi: PharmaCAPA AI Cockpit</a:t>
            </a:r>
          </a:p>
          <a:p>
            <a:pPr>
              <a:defRPr sz="1200">
                <a:solidFill>
                  <a:srgbClr val="38BDF8"/>
                </a:solidFill>
              </a:defRPr>
            </a:pPr>
            <a:r>
              <a:t>Arsitektur Sistem Dual-Engine AI &amp; Antarmuka Operator-QA Terpadu</a:t>
            </a:r>
          </a:p>
        </p:txBody>
      </p:sp>
      <p:sp>
        <p:nvSpPr>
          <p:cNvPr id="5" name="Rounded Rectangle 4"/>
          <p:cNvSpPr/>
          <p:nvPr/>
        </p:nvSpPr>
        <p:spPr>
          <a:xfrm>
            <a:off x="731520" y="1645920"/>
            <a:ext cx="5120640" cy="4572000"/>
          </a:xfrm>
          <a:prstGeom prst="roundRect">
            <a:avLst/>
          </a:prstGeom>
          <a:solidFill>
            <a:srgbClr val="132A45"/>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783080"/>
            <a:ext cx="4754880" cy="4297680"/>
          </a:xfrm>
          <a:prstGeom prst="rect">
            <a:avLst/>
          </a:prstGeom>
          <a:noFill/>
        </p:spPr>
        <p:txBody>
          <a:bodyPr wrap="square">
            <a:spAutoFit/>
          </a:bodyPr>
          <a:lstStyle/>
          <a:p>
            <a:pPr>
              <a:defRPr sz="1000" b="1">
                <a:solidFill>
                  <a:srgbClr val="38BDF8"/>
                </a:solidFill>
              </a:defRPr>
            </a:pPr>
            <a:r>
              <a:t>[TEKNOLOGI DUAL-ENGINE]</a:t>
            </a:r>
          </a:p>
          <a:p>
            <a:pPr>
              <a:defRPr sz="1500" b="1">
                <a:solidFill>
                  <a:srgbClr val="FFFFFF"/>
                </a:solidFill>
              </a:defRPr>
            </a:pPr>
            <a:r>
              <a:t>Arsitektur Dual-Engine AI</a:t>
            </a:r>
          </a:p>
          <a:p>
            <a:pPr>
              <a:defRPr sz="1150">
                <a:solidFill>
                  <a:srgbClr val="CBD5E1"/>
                </a:solidFill>
              </a:defRPr>
            </a:pPr>
            <a:r>
              <a:t>•  1. Offline Pharmaceutical Heuristic Engine (Default):</a:t>
            </a:r>
          </a:p>
          <a:p>
            <a:pPr>
              <a:defRPr sz="1150">
                <a:solidFill>
                  <a:srgbClr val="CBD5E1"/>
                </a:solidFill>
              </a:defRPr>
            </a:pPr>
            <a:r>
              <a:t>•     - Berjalan 100% lokal di browser tanpa koneksi internet.</a:t>
            </a:r>
          </a:p>
          <a:p>
            <a:pPr>
              <a:defRPr sz="1150">
                <a:solidFill>
                  <a:srgbClr val="CBD5E1"/>
                </a:solidFill>
              </a:defRPr>
            </a:pPr>
            <a:r>
              <a:t>•     - Solusi ideal untuk cleanroom berpelindung sinyal radio (Faraday shield).</a:t>
            </a:r>
          </a:p>
          <a:p>
            <a:pPr>
              <a:defRPr sz="1150">
                <a:solidFill>
                  <a:srgbClr val="CBD5E1"/>
                </a:solidFill>
              </a:defRPr>
            </a:pPr>
            <a:r>
              <a:t>•     - Menghitung RPN, memetakan 6M Ishikawa &amp; 5-Whys seketika.</a:t>
            </a:r>
          </a:p>
          <a:p>
            <a:pPr>
              <a:defRPr sz="1150">
                <a:solidFill>
                  <a:srgbClr val="CBD5E1"/>
                </a:solidFill>
              </a:defRPr>
            </a:pPr>
            <a:r>
              <a:t>•  </a:t>
            </a:r>
          </a:p>
          <a:p>
            <a:pPr>
              <a:defRPr sz="1150">
                <a:solidFill>
                  <a:srgbClr val="CBD5E1"/>
                </a:solidFill>
              </a:defRPr>
            </a:pPr>
            <a:r>
              <a:t>•  2. Cloud LLM Reasoning (Google Gemini API):</a:t>
            </a:r>
          </a:p>
          <a:p>
            <a:pPr>
              <a:defRPr sz="1150">
                <a:solidFill>
                  <a:srgbClr val="CBD5E1"/>
                </a:solidFill>
              </a:defRPr>
            </a:pPr>
            <a:r>
              <a:t>•     - Analisis narasi mendalam untuk kasus deviasi kustom kompleks.</a:t>
            </a:r>
          </a:p>
          <a:p>
            <a:pPr>
              <a:defRPr sz="1150">
                <a:solidFill>
                  <a:srgbClr val="CBD5E1"/>
                </a:solidFill>
              </a:defRPr>
            </a:pPr>
            <a:r>
              <a:t>•     - Rekomendasi tindakan CAPA adaptif berbasis data farmasi global.</a:t>
            </a:r>
          </a:p>
        </p:txBody>
      </p:sp>
      <p:sp>
        <p:nvSpPr>
          <p:cNvPr id="7" name="Rounded Rectangle 6"/>
          <p:cNvSpPr/>
          <p:nvPr/>
        </p:nvSpPr>
        <p:spPr>
          <a:xfrm>
            <a:off x="6217920" y="1645920"/>
            <a:ext cx="5212080" cy="4572000"/>
          </a:xfrm>
          <a:prstGeom prst="roundRect">
            <a:avLst/>
          </a:prstGeom>
          <a:solidFill>
            <a:srgbClr val="132A45"/>
          </a:solidFill>
          <a:ln w="19050">
            <a:solidFill>
              <a:srgbClr val="1580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783080"/>
            <a:ext cx="4846320" cy="4297680"/>
          </a:xfrm>
          <a:prstGeom prst="rect">
            <a:avLst/>
          </a:prstGeom>
          <a:noFill/>
        </p:spPr>
        <p:txBody>
          <a:bodyPr wrap="square">
            <a:spAutoFit/>
          </a:bodyPr>
          <a:lstStyle/>
          <a:p>
            <a:pPr>
              <a:defRPr sz="1000" b="1">
                <a:solidFill>
                  <a:srgbClr val="38BDF8"/>
                </a:solidFill>
              </a:defRPr>
            </a:pPr>
            <a:r>
              <a:t>[KAPABILITAS SISTEM]</a:t>
            </a:r>
          </a:p>
          <a:p>
            <a:pPr>
              <a:defRPr sz="1500" b="1">
                <a:solidFill>
                  <a:srgbClr val="FFFFFF"/>
                </a:solidFill>
              </a:defRPr>
            </a:pPr>
            <a:r>
              <a:t>Fitur Unggulan Sistem</a:t>
            </a:r>
          </a:p>
          <a:p>
            <a:pPr>
              <a:defRPr sz="1150">
                <a:solidFill>
                  <a:srgbClr val="CBD5E1"/>
                </a:solidFill>
              </a:defRPr>
            </a:pPr>
            <a:r>
              <a:t>•  4 Preset Kasus Riil Farmasi: Disolusi OOS Paracetamol, Lonjakan Suhu FBD Amoxicillin, Partikulat Steril Ceftriaxone, dan Capping Cetirizine.</a:t>
            </a:r>
          </a:p>
          <a:p>
            <a:pPr>
              <a:defRPr sz="1150">
                <a:solidFill>
                  <a:srgbClr val="CBD5E1"/>
                </a:solidFill>
              </a:defRPr>
            </a:pPr>
            <a:r>
              <a:t>•  Kalkulator RPN &amp; Disposisi Otomatis: Hold/Quarantine, Evaluasi Rework, atau Reject formal CPOB.</a:t>
            </a:r>
          </a:p>
          <a:p>
            <a:pPr>
              <a:defRPr sz="1150">
                <a:solidFill>
                  <a:srgbClr val="CBD5E1"/>
                </a:solidFill>
              </a:defRPr>
            </a:pPr>
            <a:r>
              <a:t>•  Visualisasi SVG Interaktif 6M: Diagram tulang ikan dengan indikator akar masalah berdenyut (pulsing red).</a:t>
            </a:r>
          </a:p>
          <a:p>
            <a:pPr>
              <a:defRPr sz="1150">
                <a:solidFill>
                  <a:srgbClr val="CBD5E1"/>
                </a:solidFill>
              </a:defRPr>
            </a:pPr>
            <a:r>
              <a:t>•  Generator Dokumen Resmi CPOB: Unduh format Microsoft Word (.doc) dan cetak langsung ke PDF A4 siap audit.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9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4114800" cy="320040"/>
          </a:xfrm>
          <a:prstGeom prst="roundRect">
            <a:avLst/>
          </a:prstGeom>
          <a:solidFill>
            <a:srgbClr val="0284C7"/>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FFFFF"/>
                </a:solidFill>
              </a:defRPr>
            </a:pPr>
            <a:r>
              <a:t>✚ METODOLOGI ANALISIS AKAR MASALAH</a:t>
            </a:r>
          </a:p>
        </p:txBody>
      </p:sp>
      <p:sp>
        <p:nvSpPr>
          <p:cNvPr id="4" name="TextBox 3"/>
          <p:cNvSpPr txBox="1"/>
          <p:nvPr/>
        </p:nvSpPr>
        <p:spPr>
          <a:xfrm>
            <a:off x="731520" y="777240"/>
            <a:ext cx="10698480" cy="548640"/>
          </a:xfrm>
          <a:prstGeom prst="rect">
            <a:avLst/>
          </a:prstGeom>
          <a:noFill/>
        </p:spPr>
        <p:txBody>
          <a:bodyPr wrap="square">
            <a:spAutoFit/>
          </a:bodyPr>
          <a:lstStyle/>
          <a:p>
            <a:pPr>
              <a:defRPr sz="2200" b="1">
                <a:solidFill>
                  <a:srgbClr val="FFFFFF"/>
                </a:solidFill>
              </a:defRPr>
            </a:pPr>
            <a:r>
              <a:t>Metodologi RCA: Integrasi Ishikawa 6M &amp; 5-Whys</a:t>
            </a:r>
          </a:p>
          <a:p>
            <a:pPr>
              <a:defRPr sz="1200">
                <a:solidFill>
                  <a:srgbClr val="38BDF8"/>
                </a:solidFill>
              </a:defRPr>
            </a:pPr>
            <a:r>
              <a:t>Membongkar Akar Masalah Sistemik dan Menghentikan Budaya Menyalahkan Operator</a:t>
            </a:r>
          </a:p>
        </p:txBody>
      </p:sp>
      <p:sp>
        <p:nvSpPr>
          <p:cNvPr id="5" name="Rounded Rectangle 4"/>
          <p:cNvSpPr/>
          <p:nvPr/>
        </p:nvSpPr>
        <p:spPr>
          <a:xfrm>
            <a:off x="731520" y="1645920"/>
            <a:ext cx="5120640" cy="4572000"/>
          </a:xfrm>
          <a:prstGeom prst="roundRect">
            <a:avLst/>
          </a:prstGeom>
          <a:solidFill>
            <a:srgbClr val="132A45"/>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783080"/>
            <a:ext cx="4754880" cy="4297680"/>
          </a:xfrm>
          <a:prstGeom prst="rect">
            <a:avLst/>
          </a:prstGeom>
          <a:noFill/>
        </p:spPr>
        <p:txBody>
          <a:bodyPr wrap="square">
            <a:spAutoFit/>
          </a:bodyPr>
          <a:lstStyle/>
          <a:p>
            <a:pPr>
              <a:defRPr sz="1000" b="1">
                <a:solidFill>
                  <a:srgbClr val="38BDF8"/>
                </a:solidFill>
              </a:defRPr>
            </a:pPr>
            <a:r>
              <a:t>[DOMAIN ISHIKAWA 6M]</a:t>
            </a:r>
          </a:p>
          <a:p>
            <a:pPr>
              <a:defRPr sz="1500" b="1">
                <a:solidFill>
                  <a:srgbClr val="FFFFFF"/>
                </a:solidFill>
              </a:defRPr>
            </a:pPr>
            <a:r>
              <a:t>Diagram Tulang Ikan (Ishikawa 6M)</a:t>
            </a:r>
          </a:p>
          <a:p>
            <a:pPr>
              <a:defRPr sz="1150">
                <a:solidFill>
                  <a:srgbClr val="CBD5E1"/>
                </a:solidFill>
              </a:defRPr>
            </a:pPr>
            <a:r>
              <a:t>•  1. Man (Personil): Verifikasi sertifikasi, kelelahan shift, four-eyes principle.</a:t>
            </a:r>
          </a:p>
          <a:p>
            <a:pPr>
              <a:defRPr sz="1150">
                <a:solidFill>
                  <a:srgbClr val="CBD5E1"/>
                </a:solidFill>
              </a:defRPr>
            </a:pPr>
            <a:r>
              <a:t>•  2. Machine (Mesin): Kalibrasi sensor hidrolik, keausan mekanik, drift load cell.</a:t>
            </a:r>
          </a:p>
          <a:p>
            <a:pPr>
              <a:defRPr sz="1150">
                <a:solidFill>
                  <a:srgbClr val="CBD5E1"/>
                </a:solidFill>
              </a:defRPr>
            </a:pPr>
            <a:r>
              <a:t>•  3. Material (Bahan): Kualitas eksipien, kadar air (LOD), proporsi fines granul.</a:t>
            </a:r>
          </a:p>
          <a:p>
            <a:pPr>
              <a:defRPr sz="1150">
                <a:solidFill>
                  <a:srgbClr val="CBD5E1"/>
                </a:solidFill>
              </a:defRPr>
            </a:pPr>
            <a:r>
              <a:t>•  4. Method (Metode): Validasi SOP, kelengkapan checklist setup mesin, line clearance.</a:t>
            </a:r>
          </a:p>
          <a:p>
            <a:pPr>
              <a:defRPr sz="1150">
                <a:solidFill>
                  <a:srgbClr val="CBD5E1"/>
                </a:solidFill>
              </a:defRPr>
            </a:pPr>
            <a:r>
              <a:t>•  5. Measurement (Alat Ukur): Kalibrasi spektrofotometer, akurasi timbangan analitik.</a:t>
            </a:r>
          </a:p>
          <a:p>
            <a:pPr>
              <a:defRPr sz="1150">
                <a:solidFill>
                  <a:srgbClr val="CBD5E1"/>
                </a:solidFill>
              </a:defRPr>
            </a:pPr>
            <a:r>
              <a:t>•  6. Milieu (Lingkungan): Kontrol suhu, kelembaban (RH), perbedaan tekanan udara (DP).</a:t>
            </a:r>
          </a:p>
        </p:txBody>
      </p:sp>
      <p:sp>
        <p:nvSpPr>
          <p:cNvPr id="7" name="Rounded Rectangle 6"/>
          <p:cNvSpPr/>
          <p:nvPr/>
        </p:nvSpPr>
        <p:spPr>
          <a:xfrm>
            <a:off x="6217920" y="1645920"/>
            <a:ext cx="5212080" cy="4572000"/>
          </a:xfrm>
          <a:prstGeom prst="roundRect">
            <a:avLst/>
          </a:prstGeom>
          <a:solidFill>
            <a:srgbClr val="132A45"/>
          </a:solidFill>
          <a:ln w="1905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783080"/>
            <a:ext cx="4846320" cy="4297680"/>
          </a:xfrm>
          <a:prstGeom prst="rect">
            <a:avLst/>
          </a:prstGeom>
          <a:noFill/>
        </p:spPr>
        <p:txBody>
          <a:bodyPr wrap="square">
            <a:spAutoFit/>
          </a:bodyPr>
          <a:lstStyle/>
          <a:p>
            <a:pPr>
              <a:defRPr sz="1000" b="1">
                <a:solidFill>
                  <a:srgbClr val="38BDF8"/>
                </a:solidFill>
              </a:defRPr>
            </a:pPr>
            <a:r>
              <a:t>[RANTAI KAUSALITAS 5-WHYS]</a:t>
            </a:r>
          </a:p>
          <a:p>
            <a:pPr>
              <a:defRPr sz="1500" b="1">
                <a:solidFill>
                  <a:srgbClr val="FFFFFF"/>
                </a:solidFill>
              </a:defRPr>
            </a:pPr>
            <a:r>
              <a:t>Pohon Penalaran Kausalitas 5-Whys</a:t>
            </a:r>
          </a:p>
          <a:p>
            <a:pPr>
              <a:defRPr sz="1150">
                <a:solidFill>
                  <a:srgbClr val="CBD5E1"/>
                </a:solidFill>
              </a:defRPr>
            </a:pPr>
            <a:r>
              <a:t>•  Mengapa 1 (Gejala Awal): Uji disolusi tahap S1/S2 gagal (Q=73.5%).</a:t>
            </a:r>
          </a:p>
          <a:p>
            <a:pPr>
              <a:defRPr sz="1150">
                <a:solidFill>
                  <a:srgbClr val="CBD5E1"/>
                </a:solidFill>
              </a:defRPr>
            </a:pPr>
            <a:r>
              <a:t>•  Mengapa 2 (Mekanik): Kekerasan kaplet terlalu tinggi (&gt; 14 kP), porositas rendah.</a:t>
            </a:r>
          </a:p>
          <a:p>
            <a:pPr>
              <a:defRPr sz="1150">
                <a:solidFill>
                  <a:srgbClr val="CBD5E1"/>
                </a:solidFill>
              </a:defRPr>
            </a:pPr>
            <a:r>
              <a:t>•  Mengapa 3 (Setting Proses): Tekanan kompresi aktual mencapai 24.8 kN (Target 18-20 kN).</a:t>
            </a:r>
          </a:p>
          <a:p>
            <a:pPr>
              <a:defRPr sz="1150">
                <a:solidFill>
                  <a:srgbClr val="CBD5E1"/>
                </a:solidFill>
              </a:defRPr>
            </a:pPr>
            <a:r>
              <a:t>•  Mengapa 4 (Alat/Instrumen): Load cell rotary tablet press mengalami drift kalibrasi +5.2 kN.</a:t>
            </a:r>
          </a:p>
          <a:p>
            <a:pPr>
              <a:defRPr sz="1150">
                <a:solidFill>
                  <a:srgbClr val="CBD5E1"/>
                </a:solidFill>
              </a:defRPr>
            </a:pPr>
            <a:r>
              <a:t>•  Mengapa 5 (AKAR MASALAH SISTEMIK):</a:t>
            </a:r>
          </a:p>
          <a:p>
            <a:pPr>
              <a:defRPr sz="1150">
                <a:solidFill>
                  <a:srgbClr val="CBD5E1"/>
                </a:solidFill>
              </a:defRPr>
            </a:pPr>
            <a:r>
              <a:t>•  🎯 Alarm over-force pada HMI dinonaktifkan sementara dan belum ada checklist verifikasi verifikasi sensor pra-produksi.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9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4114800" cy="320040"/>
          </a:xfrm>
          <a:prstGeom prst="roundRect">
            <a:avLst/>
          </a:prstGeom>
          <a:solidFill>
            <a:srgbClr val="0284C7"/>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FFFFF"/>
                </a:solidFill>
              </a:defRPr>
            </a:pPr>
            <a:r>
              <a:t>✚ MANAJEMEN RISIKO MUTU KUANTITATIF</a:t>
            </a:r>
          </a:p>
        </p:txBody>
      </p:sp>
      <p:sp>
        <p:nvSpPr>
          <p:cNvPr id="4" name="TextBox 3"/>
          <p:cNvSpPr txBox="1"/>
          <p:nvPr/>
        </p:nvSpPr>
        <p:spPr>
          <a:xfrm>
            <a:off x="731520" y="777240"/>
            <a:ext cx="10698480" cy="548640"/>
          </a:xfrm>
          <a:prstGeom prst="rect">
            <a:avLst/>
          </a:prstGeom>
          <a:noFill/>
        </p:spPr>
        <p:txBody>
          <a:bodyPr wrap="square">
            <a:spAutoFit/>
          </a:bodyPr>
          <a:lstStyle/>
          <a:p>
            <a:pPr>
              <a:defRPr sz="2200" b="1">
                <a:solidFill>
                  <a:srgbClr val="FFFFFF"/>
                </a:solidFill>
              </a:defRPr>
            </a:pPr>
            <a:r>
              <a:t>Kuantifikasi Risiko: Algoritma RPN &amp; Disposisi Bets</a:t>
            </a:r>
          </a:p>
          <a:p>
            <a:pPr>
              <a:defRPr sz="1200">
                <a:solidFill>
                  <a:srgbClr val="38BDF8"/>
                </a:solidFill>
              </a:defRPr>
            </a:pPr>
            <a:r>
              <a:t>Penilaian Objektif Berbasis ICH Q9 Quality Risk Management Tanpa Bias Personal</a:t>
            </a:r>
          </a:p>
        </p:txBody>
      </p:sp>
      <p:sp>
        <p:nvSpPr>
          <p:cNvPr id="5" name="Rounded Rectangle 4"/>
          <p:cNvSpPr/>
          <p:nvPr/>
        </p:nvSpPr>
        <p:spPr>
          <a:xfrm>
            <a:off x="731520" y="1645920"/>
            <a:ext cx="5120640" cy="4572000"/>
          </a:xfrm>
          <a:prstGeom prst="roundRect">
            <a:avLst/>
          </a:prstGeom>
          <a:solidFill>
            <a:srgbClr val="132A45"/>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783080"/>
            <a:ext cx="4754880" cy="4297680"/>
          </a:xfrm>
          <a:prstGeom prst="rect">
            <a:avLst/>
          </a:prstGeom>
          <a:noFill/>
        </p:spPr>
        <p:txBody>
          <a:bodyPr wrap="square">
            <a:spAutoFit/>
          </a:bodyPr>
          <a:lstStyle/>
          <a:p>
            <a:pPr>
              <a:defRPr sz="1000" b="1">
                <a:solidFill>
                  <a:srgbClr val="38BDF8"/>
                </a:solidFill>
              </a:defRPr>
            </a:pPr>
            <a:r>
              <a:t>[FORMULA ICH Q9]</a:t>
            </a:r>
          </a:p>
          <a:p>
            <a:pPr>
              <a:defRPr sz="1500" b="1">
                <a:solidFill>
                  <a:srgbClr val="FFFFFF"/>
                </a:solidFill>
              </a:defRPr>
            </a:pPr>
            <a:r>
              <a:t>Algoritma Formula RPN (ICH Q9)</a:t>
            </a:r>
          </a:p>
          <a:p>
            <a:pPr>
              <a:defRPr sz="1150">
                <a:solidFill>
                  <a:srgbClr val="CBD5E1"/>
                </a:solidFill>
              </a:defRPr>
            </a:pPr>
            <a:r>
              <a:t>•  Formula: RPN = Severity (S) x Probability (P) x Detectability (D)</a:t>
            </a:r>
          </a:p>
          <a:p>
            <a:pPr>
              <a:defRPr sz="1150">
                <a:solidFill>
                  <a:srgbClr val="CBD5E1"/>
                </a:solidFill>
              </a:defRPr>
            </a:pPr>
            <a:r>
              <a:t>•  </a:t>
            </a:r>
          </a:p>
          <a:p>
            <a:pPr>
              <a:defRPr sz="1150">
                <a:solidFill>
                  <a:srgbClr val="CBD5E1"/>
                </a:solidFill>
              </a:defRPr>
            </a:pPr>
            <a:r>
              <a:t>•  • Severity (S: 1 - 5):</a:t>
            </a:r>
          </a:p>
          <a:p>
            <a:pPr>
              <a:defRPr sz="1150">
                <a:solidFill>
                  <a:srgbClr val="CBD5E1"/>
                </a:solidFill>
              </a:defRPr>
            </a:pPr>
            <a:r>
              <a:t>•    Mengukur keparahan dampak terhadap keamanan pasien dan bioavailabilitas obat.</a:t>
            </a:r>
          </a:p>
          <a:p>
            <a:pPr>
              <a:defRPr sz="1150">
                <a:solidFill>
                  <a:srgbClr val="CBD5E1"/>
                </a:solidFill>
              </a:defRPr>
            </a:pPr>
            <a:r>
              <a:t>•  </a:t>
            </a:r>
          </a:p>
          <a:p>
            <a:pPr>
              <a:defRPr sz="1150">
                <a:solidFill>
                  <a:srgbClr val="CBD5E1"/>
                </a:solidFill>
              </a:defRPr>
            </a:pPr>
            <a:r>
              <a:t>•  • Probability (P: 1 - 5):</a:t>
            </a:r>
          </a:p>
          <a:p>
            <a:pPr>
              <a:defRPr sz="1150">
                <a:solidFill>
                  <a:srgbClr val="CBD5E1"/>
                </a:solidFill>
              </a:defRPr>
            </a:pPr>
            <a:r>
              <a:t>•    Mengukur frekuensi atau kemungkinan terjadinya kegagalan proses di lini manufaktur.</a:t>
            </a:r>
          </a:p>
          <a:p>
            <a:pPr>
              <a:defRPr sz="1150">
                <a:solidFill>
                  <a:srgbClr val="CBD5E1"/>
                </a:solidFill>
              </a:defRPr>
            </a:pPr>
            <a:r>
              <a:t>•  </a:t>
            </a:r>
          </a:p>
          <a:p>
            <a:pPr>
              <a:defRPr sz="1150">
                <a:solidFill>
                  <a:srgbClr val="CBD5E1"/>
                </a:solidFill>
              </a:defRPr>
            </a:pPr>
            <a:r>
              <a:t>•  • Detectability (D: 1 - 5):</a:t>
            </a:r>
          </a:p>
          <a:p>
            <a:pPr>
              <a:defRPr sz="1150">
                <a:solidFill>
                  <a:srgbClr val="CBD5E1"/>
                </a:solidFill>
              </a:defRPr>
            </a:pPr>
            <a:r>
              <a:t>•    Mengukur kemudahan mendeteksi anomali sebelum obat lolos ke tahap distribusi komersial.</a:t>
            </a:r>
          </a:p>
        </p:txBody>
      </p:sp>
      <p:sp>
        <p:nvSpPr>
          <p:cNvPr id="7" name="Rounded Rectangle 6"/>
          <p:cNvSpPr/>
          <p:nvPr/>
        </p:nvSpPr>
        <p:spPr>
          <a:xfrm>
            <a:off x="6217920" y="1645920"/>
            <a:ext cx="5212080" cy="4572000"/>
          </a:xfrm>
          <a:prstGeom prst="roundRect">
            <a:avLst/>
          </a:prstGeom>
          <a:solidFill>
            <a:srgbClr val="132A45"/>
          </a:solidFill>
          <a:ln w="1905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783080"/>
            <a:ext cx="4846320" cy="4297680"/>
          </a:xfrm>
          <a:prstGeom prst="rect">
            <a:avLst/>
          </a:prstGeom>
          <a:noFill/>
        </p:spPr>
        <p:txBody>
          <a:bodyPr wrap="square">
            <a:spAutoFit/>
          </a:bodyPr>
          <a:lstStyle/>
          <a:p>
            <a:pPr>
              <a:defRPr sz="1000" b="1">
                <a:solidFill>
                  <a:srgbClr val="38BDF8"/>
                </a:solidFill>
              </a:defRPr>
            </a:pPr>
            <a:r>
              <a:t>[KATEGORI &amp; DISPOSISI]</a:t>
            </a:r>
          </a:p>
          <a:p>
            <a:pPr>
              <a:defRPr sz="1500" b="1">
                <a:solidFill>
                  <a:srgbClr val="FFFFFF"/>
                </a:solidFill>
              </a:defRPr>
            </a:pPr>
            <a:r>
              <a:t>Klasifikasi Dampak &amp; Disposisi Bets</a:t>
            </a:r>
          </a:p>
          <a:p>
            <a:pPr>
              <a:defRPr sz="1150">
                <a:solidFill>
                  <a:srgbClr val="CBD5E1"/>
                </a:solidFill>
              </a:defRPr>
            </a:pPr>
            <a:r>
              <a:t>•  🔴 CRITICAL (RPN &gt;= 40):</a:t>
            </a:r>
          </a:p>
          <a:p>
            <a:pPr>
              <a:defRPr sz="1150">
                <a:solidFill>
                  <a:srgbClr val="CBD5E1"/>
                </a:solidFill>
              </a:defRPr>
            </a:pPr>
            <a:r>
              <a:t>•     - Dampak langsung terhadap sterilitas atau potensi toksisitas.</a:t>
            </a:r>
          </a:p>
          <a:p>
            <a:pPr>
              <a:defRPr sz="1150">
                <a:solidFill>
                  <a:srgbClr val="CBD5E1"/>
                </a:solidFill>
              </a:defRPr>
            </a:pPr>
            <a:r>
              <a:t>•     - Disposisi: Karantina Formal &amp; Evaluasi Reject / Destruksi Produk.</a:t>
            </a:r>
          </a:p>
          <a:p>
            <a:pPr>
              <a:defRPr sz="1150">
                <a:solidFill>
                  <a:srgbClr val="CBD5E1"/>
                </a:solidFill>
              </a:defRPr>
            </a:pPr>
            <a:r>
              <a:t>•  </a:t>
            </a:r>
          </a:p>
          <a:p>
            <a:pPr>
              <a:defRPr sz="1150">
                <a:solidFill>
                  <a:srgbClr val="CBD5E1"/>
                </a:solidFill>
              </a:defRPr>
            </a:pPr>
            <a:r>
              <a:t>•  🟡 MAJOR (RPN 10 - 39):</a:t>
            </a:r>
          </a:p>
          <a:p>
            <a:pPr>
              <a:defRPr sz="1150">
                <a:solidFill>
                  <a:srgbClr val="CBD5E1"/>
                </a:solidFill>
              </a:defRPr>
            </a:pPr>
            <a:r>
              <a:t>•     - Kegagalan CQA seperti Disolusi OOS atau variasi kadar.</a:t>
            </a:r>
          </a:p>
          <a:p>
            <a:pPr>
              <a:defRPr sz="1150">
                <a:solidFill>
                  <a:srgbClr val="CBD5E1"/>
                </a:solidFill>
              </a:defRPr>
            </a:pPr>
            <a:r>
              <a:t>•     - Disposisi: Penahanan Karantina CPOB &amp; Uji Diperluas (Expanded Testing).</a:t>
            </a:r>
          </a:p>
          <a:p>
            <a:pPr>
              <a:defRPr sz="1150">
                <a:solidFill>
                  <a:srgbClr val="CBD5E1"/>
                </a:solidFill>
              </a:defRPr>
            </a:pPr>
            <a:r>
              <a:t>•  </a:t>
            </a:r>
          </a:p>
          <a:p>
            <a:pPr>
              <a:defRPr sz="1150">
                <a:solidFill>
                  <a:srgbClr val="CBD5E1"/>
                </a:solidFill>
              </a:defRPr>
            </a:pPr>
            <a:r>
              <a:t>•  🟢 MINOR (RPN &lt; 10):</a:t>
            </a:r>
          </a:p>
          <a:p>
            <a:pPr>
              <a:defRPr sz="1150">
                <a:solidFill>
                  <a:srgbClr val="CBD5E1"/>
                </a:solidFill>
              </a:defRPr>
            </a:pPr>
            <a:r>
              <a:t>•     - Deviasi kosmetik atau isolasi kecil yang tidak mempengaruhi CQA.</a:t>
            </a:r>
          </a:p>
          <a:p>
            <a:pPr>
              <a:defRPr sz="1150">
                <a:solidFill>
                  <a:srgbClr val="CBD5E1"/>
                </a:solidFill>
              </a:defRPr>
            </a:pPr>
            <a:r>
              <a:t>•     - Disposisi: Rilis Bersyarat dengan Notifikasi QA.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9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4114800" cy="320040"/>
          </a:xfrm>
          <a:prstGeom prst="roundRect">
            <a:avLst/>
          </a:prstGeom>
          <a:solidFill>
            <a:srgbClr val="0284C7"/>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FFFFF"/>
                </a:solidFill>
              </a:defRPr>
            </a:pPr>
            <a:r>
              <a:t>✚ AKSESIBILITAS &amp; HUMAN-CENTERED DESIGN</a:t>
            </a:r>
          </a:p>
        </p:txBody>
      </p:sp>
      <p:sp>
        <p:nvSpPr>
          <p:cNvPr id="4" name="TextBox 3"/>
          <p:cNvSpPr txBox="1"/>
          <p:nvPr/>
        </p:nvSpPr>
        <p:spPr>
          <a:xfrm>
            <a:off x="731520" y="777240"/>
            <a:ext cx="10698480" cy="548640"/>
          </a:xfrm>
          <a:prstGeom prst="rect">
            <a:avLst/>
          </a:prstGeom>
          <a:noFill/>
        </p:spPr>
        <p:txBody>
          <a:bodyPr wrap="square">
            <a:spAutoFit/>
          </a:bodyPr>
          <a:lstStyle/>
          <a:p>
            <a:pPr>
              <a:defRPr sz="2200" b="1">
                <a:solidFill>
                  <a:srgbClr val="FFFFFF"/>
                </a:solidFill>
              </a:defRPr>
            </a:pPr>
            <a:r>
              <a:t>Desain Lapangan: Akses Mobile untuk Operator Ruang Bersih</a:t>
            </a:r>
          </a:p>
          <a:p>
            <a:pPr>
              <a:defRPr sz="1200">
                <a:solidFill>
                  <a:srgbClr val="38BDF8"/>
                </a:solidFill>
              </a:defRPr>
            </a:pPr>
            <a:r>
              <a:t>Responsif di Layar Smartphone (Safari iOS &amp; Android) Tanpa Hambatan Ruang Bersih</a:t>
            </a:r>
          </a:p>
        </p:txBody>
      </p:sp>
      <p:sp>
        <p:nvSpPr>
          <p:cNvPr id="5" name="Rounded Rectangle 4"/>
          <p:cNvSpPr/>
          <p:nvPr/>
        </p:nvSpPr>
        <p:spPr>
          <a:xfrm>
            <a:off x="731520" y="1645920"/>
            <a:ext cx="3291840" cy="4572000"/>
          </a:xfrm>
          <a:prstGeom prst="roundRect">
            <a:avLst/>
          </a:prstGeom>
          <a:solidFill>
            <a:srgbClr val="132A45"/>
          </a:solidFill>
          <a:ln w="19050">
            <a:solidFill>
              <a:srgbClr val="0369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783080"/>
            <a:ext cx="2926080" cy="4297680"/>
          </a:xfrm>
          <a:prstGeom prst="rect">
            <a:avLst/>
          </a:prstGeom>
          <a:noFill/>
        </p:spPr>
        <p:txBody>
          <a:bodyPr wrap="square">
            <a:spAutoFit/>
          </a:bodyPr>
          <a:lstStyle/>
          <a:p>
            <a:pPr>
              <a:defRPr sz="1000" b="1">
                <a:solidFill>
                  <a:srgbClr val="38BDF8"/>
                </a:solidFill>
              </a:defRPr>
            </a:pPr>
            <a:r>
              <a:t>[TANTANGAN CLEANROOM]</a:t>
            </a:r>
          </a:p>
          <a:p>
            <a:pPr>
              <a:defRPr sz="1500" b="1">
                <a:solidFill>
                  <a:srgbClr val="FFFFFF"/>
                </a:solidFill>
              </a:defRPr>
            </a:pPr>
            <a:r>
              <a:t>Kebutuhan Operator Lini</a:t>
            </a:r>
          </a:p>
          <a:p>
            <a:pPr>
              <a:defRPr sz="1150">
                <a:solidFill>
                  <a:srgbClr val="CBD5E1"/>
                </a:solidFill>
              </a:defRPr>
            </a:pPr>
            <a:r>
              <a:t>•  Bekerja di dalam ruang bersih dengan pakaian khusus (gowning).</a:t>
            </a:r>
          </a:p>
          <a:p>
            <a:pPr>
              <a:defRPr sz="1150">
                <a:solidFill>
                  <a:srgbClr val="CBD5E1"/>
                </a:solidFill>
              </a:defRPr>
            </a:pPr>
            <a:r>
              <a:t>•  Tidak memungkinkan membawa laptop atau PC desktop ke cleanroom.</a:t>
            </a:r>
          </a:p>
          <a:p>
            <a:pPr>
              <a:defRPr sz="1150">
                <a:solidFill>
                  <a:srgbClr val="CBD5E1"/>
                </a:solidFill>
              </a:defRPr>
            </a:pPr>
            <a:r>
              <a:t>•  Membutuhkan perangkat portabel yang dapat disanitasi alkohol 70%.</a:t>
            </a:r>
          </a:p>
          <a:p>
            <a:pPr>
              <a:defRPr sz="1150">
                <a:solidFill>
                  <a:srgbClr val="CBD5E1"/>
                </a:solidFill>
              </a:defRPr>
            </a:pPr>
            <a:r>
              <a:t>•  Waktu input harus sangat singkat agar tidak mengganggu proses produksi.</a:t>
            </a:r>
          </a:p>
        </p:txBody>
      </p:sp>
      <p:sp>
        <p:nvSpPr>
          <p:cNvPr id="7" name="Rounded Rectangle 6"/>
          <p:cNvSpPr/>
          <p:nvPr/>
        </p:nvSpPr>
        <p:spPr>
          <a:xfrm>
            <a:off x="4389120" y="1645920"/>
            <a:ext cx="3291840" cy="4572000"/>
          </a:xfrm>
          <a:prstGeom prst="roundRect">
            <a:avLst/>
          </a:prstGeom>
          <a:solidFill>
            <a:srgbClr val="132A45"/>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0" y="1783080"/>
            <a:ext cx="2926080" cy="4297680"/>
          </a:xfrm>
          <a:prstGeom prst="rect">
            <a:avLst/>
          </a:prstGeom>
          <a:noFill/>
        </p:spPr>
        <p:txBody>
          <a:bodyPr wrap="square">
            <a:spAutoFit/>
          </a:bodyPr>
          <a:lstStyle/>
          <a:p>
            <a:pPr>
              <a:defRPr sz="1000" b="1">
                <a:solidFill>
                  <a:srgbClr val="38BDF8"/>
                </a:solidFill>
              </a:defRPr>
            </a:pPr>
            <a:r>
              <a:t>[FITUR UI/UX]</a:t>
            </a:r>
          </a:p>
          <a:p>
            <a:pPr>
              <a:defRPr sz="1500" b="1">
                <a:solidFill>
                  <a:srgbClr val="FFFFFF"/>
                </a:solidFill>
              </a:defRPr>
            </a:pPr>
            <a:r>
              <a:t>Optimalisasi Antarmuka</a:t>
            </a:r>
          </a:p>
          <a:p>
            <a:pPr>
              <a:defRPr sz="1150">
                <a:solidFill>
                  <a:srgbClr val="CBD5E1"/>
                </a:solidFill>
              </a:defRPr>
            </a:pPr>
            <a:r>
              <a:t>•  Mobile-First Responsive: Menyesuaikan sempurna dengan rasio layar smartphone.</a:t>
            </a:r>
          </a:p>
          <a:p>
            <a:pPr>
              <a:defRPr sz="1150">
                <a:solidFill>
                  <a:srgbClr val="CBD5E1"/>
                </a:solidFill>
              </a:defRPr>
            </a:pPr>
            <a:r>
              <a:t>•  Preset Chips Cepat: Pilihan 1-klik untuk insiden disolusi, suhu, partikulat, atau bobot.</a:t>
            </a:r>
          </a:p>
          <a:p>
            <a:pPr>
              <a:defRPr sz="1150">
                <a:solidFill>
                  <a:srgbClr val="CBD5E1"/>
                </a:solidFill>
              </a:defRPr>
            </a:pPr>
            <a:r>
              <a:t>•  Clinical High-Contrast: Teks putih tebal di atas latar navy, sangat jelas terbaca di bawah lampu terang pabrik.</a:t>
            </a:r>
          </a:p>
          <a:p>
            <a:pPr>
              <a:defRPr sz="1150">
                <a:solidFill>
                  <a:srgbClr val="CBD5E1"/>
                </a:solidFill>
              </a:defRPr>
            </a:pPr>
            <a:r>
              <a:t>•  Navigasi Tab Minimalis: 5 tab sekuensial yang intuitif bagi operator.</a:t>
            </a:r>
          </a:p>
        </p:txBody>
      </p:sp>
      <p:sp>
        <p:nvSpPr>
          <p:cNvPr id="9" name="Rounded Rectangle 8"/>
          <p:cNvSpPr/>
          <p:nvPr/>
        </p:nvSpPr>
        <p:spPr>
          <a:xfrm>
            <a:off x="8046720" y="1645920"/>
            <a:ext cx="3383280" cy="4572000"/>
          </a:xfrm>
          <a:prstGeom prst="roundRect">
            <a:avLst/>
          </a:prstGeom>
          <a:solidFill>
            <a:srgbClr val="132A45"/>
          </a:solidFill>
          <a:ln w="19050">
            <a:solidFill>
              <a:srgbClr val="1580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0" y="1783080"/>
            <a:ext cx="3017520" cy="4297680"/>
          </a:xfrm>
          <a:prstGeom prst="rect">
            <a:avLst/>
          </a:prstGeom>
          <a:noFill/>
        </p:spPr>
        <p:txBody>
          <a:bodyPr wrap="square">
            <a:spAutoFit/>
          </a:bodyPr>
          <a:lstStyle/>
          <a:p>
            <a:pPr>
              <a:defRPr sz="1000" b="1">
                <a:solidFill>
                  <a:srgbClr val="38BDF8"/>
                </a:solidFill>
              </a:defRPr>
            </a:pPr>
            <a:r>
              <a:t>[AKSESIBILITAS MULTI-DEVICE]</a:t>
            </a:r>
          </a:p>
          <a:p>
            <a:pPr>
              <a:defRPr sz="1500" b="1">
                <a:solidFill>
                  <a:srgbClr val="FFFFFF"/>
                </a:solidFill>
              </a:defRPr>
            </a:pPr>
            <a:r>
              <a:t>Kompatibilitas Global</a:t>
            </a:r>
          </a:p>
          <a:p>
            <a:pPr>
              <a:defRPr sz="1150">
                <a:solidFill>
                  <a:srgbClr val="CBD5E1"/>
                </a:solidFill>
              </a:defRPr>
            </a:pPr>
            <a:r>
              <a:t>•  100% Berjalan di Safari iPhone, Google Chrome, Edge, &amp; Firefox.</a:t>
            </a:r>
          </a:p>
          <a:p>
            <a:pPr>
              <a:defRPr sz="1150">
                <a:solidFill>
                  <a:srgbClr val="CBD5E1"/>
                </a:solidFill>
              </a:defRPr>
            </a:pPr>
            <a:r>
              <a:t>•  Zero Installation: Tanpa perlu download dari App Store / Play Store.</a:t>
            </a:r>
          </a:p>
          <a:p>
            <a:pPr>
              <a:defRPr sz="1150">
                <a:solidFill>
                  <a:srgbClr val="CBD5E1"/>
                </a:solidFill>
              </a:defRPr>
            </a:pPr>
            <a:r>
              <a:t>•  Bebas Kuota API: Heuristic engine berjalan tanpa bergantung server luar.</a:t>
            </a:r>
          </a:p>
          <a:p>
            <a:pPr>
              <a:defRPr sz="1150">
                <a:solidFill>
                  <a:srgbClr val="CBD5E1"/>
                </a:solidFill>
              </a:defRPr>
            </a:pPr>
            <a:r>
              <a:t>•  Tautan resmi bersih: https://rismawatilaila.github.io/pharmacapa/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9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4114800" cy="320040"/>
          </a:xfrm>
          <a:prstGeom prst="roundRect">
            <a:avLst/>
          </a:prstGeom>
          <a:solidFill>
            <a:srgbClr val="0284C7"/>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FFFFF"/>
                </a:solidFill>
              </a:defRPr>
            </a:pPr>
            <a:r>
              <a:t>✚ DOKUMENTASI RESMI KEPATUHAN</a:t>
            </a:r>
          </a:p>
        </p:txBody>
      </p:sp>
      <p:sp>
        <p:nvSpPr>
          <p:cNvPr id="4" name="TextBox 3"/>
          <p:cNvSpPr txBox="1"/>
          <p:nvPr/>
        </p:nvSpPr>
        <p:spPr>
          <a:xfrm>
            <a:off x="731520" y="777240"/>
            <a:ext cx="10698480" cy="548640"/>
          </a:xfrm>
          <a:prstGeom prst="rect">
            <a:avLst/>
          </a:prstGeom>
          <a:noFill/>
        </p:spPr>
        <p:txBody>
          <a:bodyPr wrap="square">
            <a:spAutoFit/>
          </a:bodyPr>
          <a:lstStyle/>
          <a:p>
            <a:pPr>
              <a:defRPr sz="2200" b="1">
                <a:solidFill>
                  <a:srgbClr val="FFFFFF"/>
                </a:solidFill>
              </a:defRPr>
            </a:pPr>
            <a:r>
              <a:t>Fitur Ekspor Dokumen Resmi CPOB (Word &amp; PDF)</a:t>
            </a:r>
          </a:p>
          <a:p>
            <a:pPr>
              <a:defRPr sz="1200">
                <a:solidFill>
                  <a:srgbClr val="38BDF8"/>
                </a:solidFill>
              </a:defRPr>
            </a:pPr>
            <a:r>
              <a:t>Scroll-Down Selector Format: Menghasilkan Dokumen Terstandarisasi Siap Audit</a:t>
            </a:r>
          </a:p>
        </p:txBody>
      </p:sp>
      <p:sp>
        <p:nvSpPr>
          <p:cNvPr id="5" name="Rounded Rectangle 4"/>
          <p:cNvSpPr/>
          <p:nvPr/>
        </p:nvSpPr>
        <p:spPr>
          <a:xfrm>
            <a:off x="731520" y="1645920"/>
            <a:ext cx="5120640" cy="4572000"/>
          </a:xfrm>
          <a:prstGeom prst="roundRect">
            <a:avLst/>
          </a:prstGeom>
          <a:solidFill>
            <a:srgbClr val="132A45"/>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783080"/>
            <a:ext cx="4754880" cy="4297680"/>
          </a:xfrm>
          <a:prstGeom prst="rect">
            <a:avLst/>
          </a:prstGeom>
          <a:noFill/>
        </p:spPr>
        <p:txBody>
          <a:bodyPr wrap="square">
            <a:spAutoFit/>
          </a:bodyPr>
          <a:lstStyle/>
          <a:p>
            <a:pPr>
              <a:defRPr sz="1000" b="1">
                <a:solidFill>
                  <a:srgbClr val="38BDF8"/>
                </a:solidFill>
              </a:defRPr>
            </a:pPr>
            <a:r>
              <a:t>[FORMAT MICROSOFT WORD]</a:t>
            </a:r>
          </a:p>
          <a:p>
            <a:pPr>
              <a:defRPr sz="1500" b="1">
                <a:solidFill>
                  <a:srgbClr val="FFFFFF"/>
                </a:solidFill>
              </a:defRPr>
            </a:pPr>
            <a:r>
              <a:t>1. Ekspor Microsoft Word (.doc)</a:t>
            </a:r>
          </a:p>
          <a:p>
            <a:pPr>
              <a:defRPr sz="1150">
                <a:solidFill>
                  <a:srgbClr val="CBD5E1"/>
                </a:solidFill>
              </a:defRPr>
            </a:pPr>
            <a:r>
              <a:t>•  Struktur Berkas Tabel XML Office Standar:</a:t>
            </a:r>
          </a:p>
          <a:p>
            <a:pPr>
              <a:defRPr sz="1150">
                <a:solidFill>
                  <a:srgbClr val="CBD5E1"/>
                </a:solidFill>
              </a:defRPr>
            </a:pPr>
            <a:r>
              <a:t>•  • Kop Formulir Resmi Pabrik Farmasi (No. Dokumen: SOP-QA-042).</a:t>
            </a:r>
          </a:p>
          <a:p>
            <a:pPr>
              <a:defRPr sz="1150">
                <a:solidFill>
                  <a:srgbClr val="CBD5E1"/>
                </a:solidFill>
              </a:defRPr>
            </a:pPr>
            <a:r>
              <a:t>•  • Bagian 1: Data Identitas Bets &amp; Telemetri Kejadian.</a:t>
            </a:r>
          </a:p>
          <a:p>
            <a:pPr>
              <a:defRPr sz="1150">
                <a:solidFill>
                  <a:srgbClr val="CBD5E1"/>
                </a:solidFill>
              </a:defRPr>
            </a:pPr>
            <a:r>
              <a:t>•  • Bagian 2: Kajian Risiko Mutu ICH Q9 (Tabel RPN &amp; Klasifikasi).</a:t>
            </a:r>
          </a:p>
          <a:p>
            <a:pPr>
              <a:defRPr sz="1150">
                <a:solidFill>
                  <a:srgbClr val="CBD5E1"/>
                </a:solidFill>
              </a:defRPr>
            </a:pPr>
            <a:r>
              <a:t>•  • Bagian 3: Matriks Analisis Akar Masalah 6M Ishikawa.</a:t>
            </a:r>
          </a:p>
          <a:p>
            <a:pPr>
              <a:defRPr sz="1150">
                <a:solidFill>
                  <a:srgbClr val="CBD5E1"/>
                </a:solidFill>
              </a:defRPr>
            </a:pPr>
            <a:r>
              <a:t>•  • Bagian 4: Rantai Penalaran Kausalitas 5-Whys.</a:t>
            </a:r>
          </a:p>
          <a:p>
            <a:pPr>
              <a:defRPr sz="1150">
                <a:solidFill>
                  <a:srgbClr val="CBD5E1"/>
                </a:solidFill>
              </a:defRPr>
            </a:pPr>
            <a:r>
              <a:t>•  • Bagian 5: Tabel Rencana CAPA (Corrective &amp; Preventive Action) dengan PIC, Batas Waktu, dan Kriteria Review.</a:t>
            </a:r>
          </a:p>
          <a:p>
            <a:pPr>
              <a:defRPr sz="1150">
                <a:solidFill>
                  <a:srgbClr val="CBD5E1"/>
                </a:solidFill>
              </a:defRPr>
            </a:pPr>
            <a:r>
              <a:t>•  • Bagian 6: Kolom Tanda Tangan Resmi (Pelapor, QA, dan QA Manager).</a:t>
            </a:r>
          </a:p>
        </p:txBody>
      </p:sp>
      <p:sp>
        <p:nvSpPr>
          <p:cNvPr id="7" name="Rounded Rectangle 6"/>
          <p:cNvSpPr/>
          <p:nvPr/>
        </p:nvSpPr>
        <p:spPr>
          <a:xfrm>
            <a:off x="6217920" y="1645920"/>
            <a:ext cx="5212080" cy="4572000"/>
          </a:xfrm>
          <a:prstGeom prst="roundRect">
            <a:avLst/>
          </a:prstGeom>
          <a:solidFill>
            <a:srgbClr val="132A45"/>
          </a:solidFill>
          <a:ln w="19050">
            <a:solidFill>
              <a:srgbClr val="1580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783080"/>
            <a:ext cx="4846320" cy="4297680"/>
          </a:xfrm>
          <a:prstGeom prst="rect">
            <a:avLst/>
          </a:prstGeom>
          <a:noFill/>
        </p:spPr>
        <p:txBody>
          <a:bodyPr wrap="square">
            <a:spAutoFit/>
          </a:bodyPr>
          <a:lstStyle/>
          <a:p>
            <a:pPr>
              <a:defRPr sz="1000" b="1">
                <a:solidFill>
                  <a:srgbClr val="38BDF8"/>
                </a:solidFill>
              </a:defRPr>
            </a:pPr>
            <a:r>
              <a:t>[FORMAT CETAK PDF A4]</a:t>
            </a:r>
          </a:p>
          <a:p>
            <a:pPr>
              <a:defRPr sz="1500" b="1">
                <a:solidFill>
                  <a:srgbClr val="FFFFFF"/>
                </a:solidFill>
              </a:defRPr>
            </a:pPr>
            <a:r>
              <a:t>2. Format PDF (Cetak Siap Audit)</a:t>
            </a:r>
          </a:p>
          <a:p>
            <a:pPr>
              <a:defRPr sz="1150">
                <a:solidFill>
                  <a:srgbClr val="CBD5E1"/>
                </a:solidFill>
              </a:defRPr>
            </a:pPr>
            <a:r>
              <a:t>•  Format Cetak Presisi Standar Kertas A4:</a:t>
            </a:r>
          </a:p>
          <a:p>
            <a:pPr>
              <a:defRPr sz="1150">
                <a:solidFill>
                  <a:srgbClr val="CBD5E1"/>
                </a:solidFill>
              </a:defRPr>
            </a:pPr>
            <a:r>
              <a:t>•  • Menggunakan CSS @media print profesional.</a:t>
            </a:r>
          </a:p>
          <a:p>
            <a:pPr>
              <a:defRPr sz="1150">
                <a:solidFill>
                  <a:srgbClr val="CBD5E1"/>
                </a:solidFill>
              </a:defRPr>
            </a:pPr>
            <a:r>
              <a:t>•  • Multi-page pagination otomatis tanpa ada teks yang terpotong.</a:t>
            </a:r>
          </a:p>
          <a:p>
            <a:pPr>
              <a:defRPr sz="1150">
                <a:solidFill>
                  <a:srgbClr val="CBD5E1"/>
                </a:solidFill>
              </a:defRPr>
            </a:pPr>
            <a:r>
              <a:t>•  • Modal dan tombol interaktif disembunyikan otomatis saat mencetak.</a:t>
            </a:r>
          </a:p>
          <a:p>
            <a:pPr>
              <a:defRPr sz="1150">
                <a:solidFill>
                  <a:srgbClr val="CBD5E1"/>
                </a:solidFill>
              </a:defRPr>
            </a:pPr>
            <a:r>
              <a:t>•  • Dapat langsung disimpan menjadi berkas PDF resmi.</a:t>
            </a:r>
          </a:p>
          <a:p>
            <a:pPr>
              <a:defRPr sz="1150">
                <a:solidFill>
                  <a:srgbClr val="CBD5E1"/>
                </a:solidFill>
              </a:defRPr>
            </a:pPr>
            <a:r>
              <a:t>•  </a:t>
            </a:r>
          </a:p>
          <a:p>
            <a:pPr>
              <a:defRPr sz="1150">
                <a:solidFill>
                  <a:srgbClr val="CBD5E1"/>
                </a:solidFill>
              </a:defRPr>
            </a:pPr>
            <a:r>
              <a:t>•  Keunggulan bagi Tim QA:</a:t>
            </a:r>
          </a:p>
          <a:p>
            <a:pPr>
              <a:defRPr sz="1150">
                <a:solidFill>
                  <a:srgbClr val="CBD5E1"/>
                </a:solidFill>
              </a:defRPr>
            </a:pPr>
            <a:r>
              <a:t>•  • Menghilangkan pekerjaan administrasi pengetikan ulang berjam-jam.</a:t>
            </a:r>
          </a:p>
          <a:p>
            <a:pPr>
              <a:defRPr sz="1150">
                <a:solidFill>
                  <a:srgbClr val="CBD5E1"/>
                </a:solidFill>
              </a:defRPr>
            </a:pPr>
            <a:r>
              <a:t>•  • Format 100% konsisten antar departemen pabrik.</a:t>
            </a:r>
          </a:p>
          <a:p>
            <a:pPr>
              <a:defRPr sz="1150">
                <a:solidFill>
                  <a:srgbClr val="CBD5E1"/>
                </a:solidFill>
              </a:defRPr>
            </a:pPr>
            <a:r>
              <a:t>•  • Langsung siap diserahkan saat inspeksi mendadak oleh auditor BPOM.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9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4114800" cy="320040"/>
          </a:xfrm>
          <a:prstGeom prst="roundRect">
            <a:avLst/>
          </a:prstGeom>
          <a:solidFill>
            <a:srgbClr val="0284C7"/>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FFFFF"/>
                </a:solidFill>
              </a:defRPr>
            </a:pPr>
            <a:r>
              <a:t>✚ EVALUASI KINERJA &amp; DAMPAK BISNIS</a:t>
            </a:r>
          </a:p>
        </p:txBody>
      </p:sp>
      <p:sp>
        <p:nvSpPr>
          <p:cNvPr id="4" name="TextBox 3"/>
          <p:cNvSpPr txBox="1"/>
          <p:nvPr/>
        </p:nvSpPr>
        <p:spPr>
          <a:xfrm>
            <a:off x="731520" y="777240"/>
            <a:ext cx="10698480" cy="548640"/>
          </a:xfrm>
          <a:prstGeom prst="rect">
            <a:avLst/>
          </a:prstGeom>
          <a:noFill/>
        </p:spPr>
        <p:txBody>
          <a:bodyPr wrap="square">
            <a:spAutoFit/>
          </a:bodyPr>
          <a:lstStyle/>
          <a:p>
            <a:pPr>
              <a:defRPr sz="2200" b="1">
                <a:solidFill>
                  <a:srgbClr val="FFFFFF"/>
                </a:solidFill>
              </a:defRPr>
            </a:pPr>
            <a:r>
              <a:t>Studi Kasus &amp; Dampak Operasional: Before vs After</a:t>
            </a:r>
          </a:p>
          <a:p>
            <a:pPr>
              <a:defRPr sz="1200">
                <a:solidFill>
                  <a:srgbClr val="38BDF8"/>
                </a:solidFill>
              </a:defRPr>
            </a:pPr>
            <a:r>
              <a:t>Kuantifikasi Manfaat Nyata Implementasi PharmaCAPA AI di Pabrik Farmasi</a:t>
            </a:r>
          </a:p>
        </p:txBody>
      </p:sp>
      <p:graphicFrame>
        <p:nvGraphicFramePr>
          <p:cNvPr id="5" name="Table 4"/>
          <p:cNvGraphicFramePr>
            <a:graphicFrameLocks noGrp="1"/>
          </p:cNvGraphicFramePr>
          <p:nvPr/>
        </p:nvGraphicFramePr>
        <p:xfrm>
          <a:off x="731520" y="1645920"/>
          <a:ext cx="10698480" cy="4572000"/>
        </p:xfrm>
        <a:graphic>
          <a:graphicData uri="http://schemas.openxmlformats.org/drawingml/2006/table">
            <a:tbl>
              <a:tblPr firstRow="1" bandRow="1">
                <a:tableStyleId>{5C22544A-7EE6-4342-B048-85BDC9FD1C3A}</a:tableStyleId>
              </a:tblPr>
              <a:tblGrid>
                <a:gridCol w="2926080"/>
                <a:gridCol w="2743200"/>
                <a:gridCol w="2743200"/>
                <a:gridCol w="2286000"/>
              </a:tblGrid>
              <a:tr h="653142">
                <a:tc>
                  <a:txBody>
                    <a:bodyPr/>
                    <a:lstStyle/>
                    <a:p>
                      <a:pPr algn="ctr">
                        <a:defRPr sz="1200" b="1">
                          <a:solidFill>
                            <a:srgbClr val="FFFFFF"/>
                          </a:solidFill>
                        </a:defRPr>
                      </a:pPr>
                      <a:r>
                        <a:t>Parameter Kinerja</a:t>
                      </a:r>
                    </a:p>
                  </a:txBody>
                  <a:tcPr>
                    <a:solidFill>
                      <a:srgbClr val="0369A1"/>
                    </a:solidFill>
                  </a:tcPr>
                </a:tc>
                <a:tc>
                  <a:txBody>
                    <a:bodyPr/>
                    <a:lstStyle/>
                    <a:p>
                      <a:pPr algn="ctr">
                        <a:defRPr sz="1200" b="1">
                          <a:solidFill>
                            <a:srgbClr val="FFFFFF"/>
                          </a:solidFill>
                        </a:defRPr>
                      </a:pPr>
                      <a:r>
                        <a:t>Sebelum (Manual Kertas)</a:t>
                      </a:r>
                    </a:p>
                  </a:txBody>
                  <a:tcPr>
                    <a:solidFill>
                      <a:srgbClr val="0369A1"/>
                    </a:solidFill>
                  </a:tcPr>
                </a:tc>
                <a:tc>
                  <a:txBody>
                    <a:bodyPr/>
                    <a:lstStyle/>
                    <a:p>
                      <a:pPr algn="ctr">
                        <a:defRPr sz="1200" b="1">
                          <a:solidFill>
                            <a:srgbClr val="FFFFFF"/>
                          </a:solidFill>
                        </a:defRPr>
                      </a:pPr>
                      <a:r>
                        <a:t>Sesudah (PharmaCAPA AI)</a:t>
                      </a:r>
                    </a:p>
                  </a:txBody>
                  <a:tcPr>
                    <a:solidFill>
                      <a:srgbClr val="0369A1"/>
                    </a:solidFill>
                  </a:tcPr>
                </a:tc>
                <a:tc>
                  <a:txBody>
                    <a:bodyPr/>
                    <a:lstStyle/>
                    <a:p>
                      <a:pPr algn="ctr">
                        <a:defRPr sz="1200" b="1">
                          <a:solidFill>
                            <a:srgbClr val="FFFFFF"/>
                          </a:solidFill>
                        </a:defRPr>
                      </a:pPr>
                      <a:r>
                        <a:t>Nilai Efisiensi</a:t>
                      </a:r>
                    </a:p>
                  </a:txBody>
                  <a:tcPr>
                    <a:solidFill>
                      <a:srgbClr val="0369A1"/>
                    </a:solidFill>
                  </a:tcPr>
                </a:tc>
              </a:tr>
              <a:tr h="653142">
                <a:tc>
                  <a:txBody>
                    <a:bodyPr/>
                    <a:lstStyle/>
                    <a:p>
                      <a:pPr>
                        <a:defRPr sz="1100">
                          <a:solidFill>
                            <a:srgbClr val="FFFFFF"/>
                          </a:solidFill>
                        </a:defRPr>
                      </a:pPr>
                      <a:r>
                        <a:t>Waktu Pelaporan Deviasi Awal</a:t>
                      </a:r>
                    </a:p>
                  </a:txBody>
                  <a:tcPr>
                    <a:solidFill>
                      <a:srgbClr val="132A45"/>
                    </a:solidFill>
                  </a:tcPr>
                </a:tc>
                <a:tc>
                  <a:txBody>
                    <a:bodyPr/>
                    <a:lstStyle/>
                    <a:p>
                      <a:pPr>
                        <a:defRPr sz="1100">
                          <a:solidFill>
                            <a:srgbClr val="FFFFFF"/>
                          </a:solidFill>
                        </a:defRPr>
                      </a:pPr>
                      <a:r>
                        <a:t>4 - 8 Jam (tunggu ganti shift)</a:t>
                      </a:r>
                    </a:p>
                  </a:txBody>
                  <a:tcPr>
                    <a:solidFill>
                      <a:srgbClr val="132A45"/>
                    </a:solidFill>
                  </a:tcPr>
                </a:tc>
                <a:tc>
                  <a:txBody>
                    <a:bodyPr/>
                    <a:lstStyle/>
                    <a:p>
                      <a:pPr>
                        <a:defRPr sz="1100">
                          <a:solidFill>
                            <a:srgbClr val="FFFFFF"/>
                          </a:solidFill>
                        </a:defRPr>
                      </a:pPr>
                      <a:r>
                        <a:t>&lt; 3 Menit via Smartphone</a:t>
                      </a:r>
                    </a:p>
                  </a:txBody>
                  <a:tcPr>
                    <a:solidFill>
                      <a:srgbClr val="132A45"/>
                    </a:solidFill>
                  </a:tcPr>
                </a:tc>
                <a:tc>
                  <a:txBody>
                    <a:bodyPr/>
                    <a:lstStyle/>
                    <a:p>
                      <a:pPr>
                        <a:defRPr sz="1100">
                          <a:solidFill>
                            <a:srgbClr val="38BDF8"/>
                          </a:solidFill>
                        </a:defRPr>
                      </a:pPr>
                      <a:r>
                        <a:t>95% Lebih Cepat</a:t>
                      </a:r>
                    </a:p>
                  </a:txBody>
                  <a:tcPr>
                    <a:solidFill>
                      <a:srgbClr val="132A45"/>
                    </a:solidFill>
                  </a:tcPr>
                </a:tc>
              </a:tr>
              <a:tr h="653142">
                <a:tc>
                  <a:txBody>
                    <a:bodyPr/>
                    <a:lstStyle/>
                    <a:p>
                      <a:pPr>
                        <a:defRPr sz="1100">
                          <a:solidFill>
                            <a:srgbClr val="FFFFFF"/>
                          </a:solidFill>
                        </a:defRPr>
                      </a:pPr>
                      <a:r>
                        <a:t>Penyusunan Diagram 6M &amp; 5-Whys</a:t>
                      </a:r>
                    </a:p>
                  </a:txBody>
                  <a:tcPr>
                    <a:solidFill>
                      <a:srgbClr val="0F223A"/>
                    </a:solidFill>
                  </a:tcPr>
                </a:tc>
                <a:tc>
                  <a:txBody>
                    <a:bodyPr/>
                    <a:lstStyle/>
                    <a:p>
                      <a:pPr>
                        <a:defRPr sz="1100">
                          <a:solidFill>
                            <a:srgbClr val="FFFFFF"/>
                          </a:solidFill>
                        </a:defRPr>
                      </a:pPr>
                      <a:r>
                        <a:t>3 - 5 Hari (rapat fisik)</a:t>
                      </a:r>
                    </a:p>
                  </a:txBody>
                  <a:tcPr>
                    <a:solidFill>
                      <a:srgbClr val="0F223A"/>
                    </a:solidFill>
                  </a:tcPr>
                </a:tc>
                <a:tc>
                  <a:txBody>
                    <a:bodyPr/>
                    <a:lstStyle/>
                    <a:p>
                      <a:pPr>
                        <a:defRPr sz="1100">
                          <a:solidFill>
                            <a:srgbClr val="FFFFFF"/>
                          </a:solidFill>
                        </a:defRPr>
                      </a:pPr>
                      <a:r>
                        <a:t>Otomatis Instan (&lt; 5 detik)</a:t>
                      </a:r>
                    </a:p>
                  </a:txBody>
                  <a:tcPr>
                    <a:solidFill>
                      <a:srgbClr val="0F223A"/>
                    </a:solidFill>
                  </a:tcPr>
                </a:tc>
                <a:tc>
                  <a:txBody>
                    <a:bodyPr/>
                    <a:lstStyle/>
                    <a:p>
                      <a:pPr>
                        <a:defRPr sz="1100">
                          <a:solidFill>
                            <a:srgbClr val="38BDF8"/>
                          </a:solidFill>
                        </a:defRPr>
                      </a:pPr>
                      <a:r>
                        <a:t>Eliminasi Rapat Manual</a:t>
                      </a:r>
                    </a:p>
                  </a:txBody>
                  <a:tcPr>
                    <a:solidFill>
                      <a:srgbClr val="0F223A"/>
                    </a:solidFill>
                  </a:tcPr>
                </a:tc>
              </a:tr>
              <a:tr h="653142">
                <a:tc>
                  <a:txBody>
                    <a:bodyPr/>
                    <a:lstStyle/>
                    <a:p>
                      <a:pPr>
                        <a:defRPr sz="1100">
                          <a:solidFill>
                            <a:srgbClr val="FFFFFF"/>
                          </a:solidFill>
                        </a:defRPr>
                      </a:pPr>
                      <a:r>
                        <a:t>Lead Time Penutupan CAPA</a:t>
                      </a:r>
                    </a:p>
                  </a:txBody>
                  <a:tcPr>
                    <a:solidFill>
                      <a:srgbClr val="132A45"/>
                    </a:solidFill>
                  </a:tcPr>
                </a:tc>
                <a:tc>
                  <a:txBody>
                    <a:bodyPr/>
                    <a:lstStyle/>
                    <a:p>
                      <a:pPr>
                        <a:defRPr sz="1100">
                          <a:solidFill>
                            <a:srgbClr val="FFFFFF"/>
                          </a:solidFill>
                        </a:defRPr>
                      </a:pPr>
                      <a:r>
                        <a:t>30 - 45 Hari Kerja</a:t>
                      </a:r>
                    </a:p>
                  </a:txBody>
                  <a:tcPr>
                    <a:solidFill>
                      <a:srgbClr val="132A45"/>
                    </a:solidFill>
                  </a:tcPr>
                </a:tc>
                <a:tc>
                  <a:txBody>
                    <a:bodyPr/>
                    <a:lstStyle/>
                    <a:p>
                      <a:pPr>
                        <a:defRPr sz="1100">
                          <a:solidFill>
                            <a:srgbClr val="FFFFFF"/>
                          </a:solidFill>
                        </a:defRPr>
                      </a:pPr>
                      <a:r>
                        <a:t>&lt; 3 Hari Kerja</a:t>
                      </a:r>
                    </a:p>
                  </a:txBody>
                  <a:tcPr>
                    <a:solidFill>
                      <a:srgbClr val="132A45"/>
                    </a:solidFill>
                  </a:tcPr>
                </a:tc>
                <a:tc>
                  <a:txBody>
                    <a:bodyPr/>
                    <a:lstStyle/>
                    <a:p>
                      <a:pPr>
                        <a:defRPr sz="1100">
                          <a:solidFill>
                            <a:srgbClr val="38BDF8"/>
                          </a:solidFill>
                        </a:defRPr>
                      </a:pPr>
                      <a:r>
                        <a:t>Efisiensi Waktu 90%</a:t>
                      </a:r>
                    </a:p>
                  </a:txBody>
                  <a:tcPr>
                    <a:solidFill>
                      <a:srgbClr val="132A45"/>
                    </a:solidFill>
                  </a:tcPr>
                </a:tc>
              </a:tr>
              <a:tr h="653142">
                <a:tc>
                  <a:txBody>
                    <a:bodyPr/>
                    <a:lstStyle/>
                    <a:p>
                      <a:pPr>
                        <a:defRPr sz="1100">
                          <a:solidFill>
                            <a:srgbClr val="FFFFFF"/>
                          </a:solidFill>
                        </a:defRPr>
                      </a:pPr>
                      <a:r>
                        <a:t>Akurasi Akar Masalah (RCA)</a:t>
                      </a:r>
                    </a:p>
                  </a:txBody>
                  <a:tcPr>
                    <a:solidFill>
                      <a:srgbClr val="0F223A"/>
                    </a:solidFill>
                  </a:tcPr>
                </a:tc>
                <a:tc>
                  <a:txBody>
                    <a:bodyPr/>
                    <a:lstStyle/>
                    <a:p>
                      <a:pPr>
                        <a:defRPr sz="1100">
                          <a:solidFill>
                            <a:srgbClr val="FFFFFF"/>
                          </a:solidFill>
                        </a:defRPr>
                      </a:pPr>
                      <a:r>
                        <a:t>Rendah (bias human error)</a:t>
                      </a:r>
                    </a:p>
                  </a:txBody>
                  <a:tcPr>
                    <a:solidFill>
                      <a:srgbClr val="0F223A"/>
                    </a:solidFill>
                  </a:tcPr>
                </a:tc>
                <a:tc>
                  <a:txBody>
                    <a:bodyPr/>
                    <a:lstStyle/>
                    <a:p>
                      <a:pPr>
                        <a:defRPr sz="1100">
                          <a:solidFill>
                            <a:srgbClr val="FFFFFF"/>
                          </a:solidFill>
                        </a:defRPr>
                      </a:pPr>
                      <a:r>
                        <a:t>Tinggi (analisis objektif)</a:t>
                      </a:r>
                    </a:p>
                  </a:txBody>
                  <a:tcPr>
                    <a:solidFill>
                      <a:srgbClr val="0F223A"/>
                    </a:solidFill>
                  </a:tcPr>
                </a:tc>
                <a:tc>
                  <a:txBody>
                    <a:bodyPr/>
                    <a:lstStyle/>
                    <a:p>
                      <a:pPr>
                        <a:defRPr sz="1100">
                          <a:solidFill>
                            <a:srgbClr val="38BDF8"/>
                          </a:solidFill>
                        </a:defRPr>
                      </a:pPr>
                      <a:r>
                        <a:t>Cegah Deviasi Berulang</a:t>
                      </a:r>
                    </a:p>
                  </a:txBody>
                  <a:tcPr>
                    <a:solidFill>
                      <a:srgbClr val="0F223A"/>
                    </a:solidFill>
                  </a:tcPr>
                </a:tc>
              </a:tr>
              <a:tr h="653142">
                <a:tc>
                  <a:txBody>
                    <a:bodyPr/>
                    <a:lstStyle/>
                    <a:p>
                      <a:pPr>
                        <a:defRPr sz="1100">
                          <a:solidFill>
                            <a:srgbClr val="FFFFFF"/>
                          </a:solidFill>
                        </a:defRPr>
                      </a:pPr>
                      <a:r>
                        <a:t>Biaya Bets Tertahan (Holding Cost)</a:t>
                      </a:r>
                    </a:p>
                  </a:txBody>
                  <a:tcPr>
                    <a:solidFill>
                      <a:srgbClr val="132A45"/>
                    </a:solidFill>
                  </a:tcPr>
                </a:tc>
                <a:tc>
                  <a:txBody>
                    <a:bodyPr/>
                    <a:lstStyle/>
                    <a:p>
                      <a:pPr>
                        <a:defRPr sz="1100">
                          <a:solidFill>
                            <a:srgbClr val="FFFFFF"/>
                          </a:solidFill>
                        </a:defRPr>
                      </a:pPr>
                      <a:r>
                        <a:t>Sangat Tinggi (gudang penuh)</a:t>
                      </a:r>
                    </a:p>
                  </a:txBody>
                  <a:tcPr>
                    <a:solidFill>
                      <a:srgbClr val="132A45"/>
                    </a:solidFill>
                  </a:tcPr>
                </a:tc>
                <a:tc>
                  <a:txBody>
                    <a:bodyPr/>
                    <a:lstStyle/>
                    <a:p>
                      <a:pPr>
                        <a:defRPr sz="1100">
                          <a:solidFill>
                            <a:srgbClr val="FFFFFF"/>
                          </a:solidFill>
                        </a:defRPr>
                      </a:pPr>
                      <a:r>
                        <a:t>Sangat Rendah (disposisi cepat)</a:t>
                      </a:r>
                    </a:p>
                  </a:txBody>
                  <a:tcPr>
                    <a:solidFill>
                      <a:srgbClr val="132A45"/>
                    </a:solidFill>
                  </a:tcPr>
                </a:tc>
                <a:tc>
                  <a:txBody>
                    <a:bodyPr/>
                    <a:lstStyle/>
                    <a:p>
                      <a:pPr>
                        <a:defRPr sz="1100">
                          <a:solidFill>
                            <a:srgbClr val="38BDF8"/>
                          </a:solidFill>
                        </a:defRPr>
                      </a:pPr>
                      <a:r>
                        <a:t>Efisiensi Finansial</a:t>
                      </a:r>
                    </a:p>
                  </a:txBody>
                  <a:tcPr>
                    <a:solidFill>
                      <a:srgbClr val="132A45"/>
                    </a:solidFill>
                  </a:tcPr>
                </a:tc>
              </a:tr>
              <a:tr h="653148">
                <a:tc>
                  <a:txBody>
                    <a:bodyPr/>
                    <a:lstStyle/>
                    <a:p>
                      <a:pPr>
                        <a:defRPr sz="1100">
                          <a:solidFill>
                            <a:srgbClr val="FFFFFF"/>
                          </a:solidFill>
                        </a:defRPr>
                      </a:pPr>
                      <a:r>
                        <a:t>Kesiapan Audit BPOM (ALCOA+)</a:t>
                      </a:r>
                    </a:p>
                  </a:txBody>
                  <a:tcPr>
                    <a:solidFill>
                      <a:srgbClr val="0F223A"/>
                    </a:solidFill>
                  </a:tcPr>
                </a:tc>
                <a:tc>
                  <a:txBody>
                    <a:bodyPr/>
                    <a:lstStyle/>
                    <a:p>
                      <a:pPr>
                        <a:defRPr sz="1100">
                          <a:solidFill>
                            <a:srgbClr val="FFFFFF"/>
                          </a:solidFill>
                        </a:defRPr>
                      </a:pPr>
                      <a:r>
                        <a:t>Rentan dokumen hilang/rusak</a:t>
                      </a:r>
                    </a:p>
                  </a:txBody>
                  <a:tcPr>
                    <a:solidFill>
                      <a:srgbClr val="0F223A"/>
                    </a:solidFill>
                  </a:tcPr>
                </a:tc>
                <a:tc>
                  <a:txBody>
                    <a:bodyPr/>
                    <a:lstStyle/>
                    <a:p>
                      <a:pPr>
                        <a:defRPr sz="1100">
                          <a:solidFill>
                            <a:srgbClr val="FFFFFF"/>
                          </a:solidFill>
                        </a:defRPr>
                      </a:pPr>
                      <a:r>
                        <a:t>100% Digital &amp; Terstruktur</a:t>
                      </a:r>
                    </a:p>
                  </a:txBody>
                  <a:tcPr>
                    <a:solidFill>
                      <a:srgbClr val="0F223A"/>
                    </a:solidFill>
                  </a:tcPr>
                </a:tc>
                <a:tc>
                  <a:txBody>
                    <a:bodyPr/>
                    <a:lstStyle/>
                    <a:p>
                      <a:pPr>
                        <a:defRPr sz="1100">
                          <a:solidFill>
                            <a:srgbClr val="38BDF8"/>
                          </a:solidFill>
                        </a:defRPr>
                      </a:pPr>
                      <a:r>
                        <a:t>100% Audit Ready</a:t>
                      </a:r>
                    </a:p>
                  </a:txBody>
                  <a:tcPr>
                    <a:solidFill>
                      <a:srgbClr val="0F223A"/>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9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4114800" cy="320040"/>
          </a:xfrm>
          <a:prstGeom prst="roundRect">
            <a:avLst/>
          </a:prstGeom>
          <a:solidFill>
            <a:srgbClr val="0284C7"/>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FFFFF"/>
                </a:solidFill>
              </a:defRPr>
            </a:pPr>
            <a:r>
              <a:t>✚ PENUTUP &amp; LANGKAH SELANJUTNYA</a:t>
            </a:r>
          </a:p>
        </p:txBody>
      </p:sp>
      <p:sp>
        <p:nvSpPr>
          <p:cNvPr id="4" name="TextBox 3"/>
          <p:cNvSpPr txBox="1"/>
          <p:nvPr/>
        </p:nvSpPr>
        <p:spPr>
          <a:xfrm>
            <a:off x="731520" y="777240"/>
            <a:ext cx="10698480" cy="548640"/>
          </a:xfrm>
          <a:prstGeom prst="rect">
            <a:avLst/>
          </a:prstGeom>
          <a:noFill/>
        </p:spPr>
        <p:txBody>
          <a:bodyPr wrap="square">
            <a:spAutoFit/>
          </a:bodyPr>
          <a:lstStyle/>
          <a:p>
            <a:pPr>
              <a:defRPr sz="2200" b="1">
                <a:solidFill>
                  <a:srgbClr val="FFFFFF"/>
                </a:solidFill>
              </a:defRPr>
            </a:pPr>
            <a:r>
              <a:t>Kesimpulan &amp; Roadmap Pengembangan Masa Depan</a:t>
            </a:r>
          </a:p>
          <a:p>
            <a:pPr>
              <a:defRPr sz="1200">
                <a:solidFill>
                  <a:srgbClr val="38BDF8"/>
                </a:solidFill>
              </a:defRPr>
            </a:pPr>
            <a:r>
              <a:t>Transformasi Nyata Menuju Smart Pharmaceutical Manufacturing</a:t>
            </a:r>
          </a:p>
        </p:txBody>
      </p:sp>
      <p:sp>
        <p:nvSpPr>
          <p:cNvPr id="5" name="Rounded Rectangle 4"/>
          <p:cNvSpPr/>
          <p:nvPr/>
        </p:nvSpPr>
        <p:spPr>
          <a:xfrm>
            <a:off x="731520" y="1645920"/>
            <a:ext cx="5120640" cy="4572000"/>
          </a:xfrm>
          <a:prstGeom prst="roundRect">
            <a:avLst/>
          </a:prstGeom>
          <a:solidFill>
            <a:srgbClr val="132A45"/>
          </a:solidFill>
          <a:ln w="19050">
            <a:solidFill>
              <a:srgbClr val="1580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783080"/>
            <a:ext cx="4754880" cy="4297680"/>
          </a:xfrm>
          <a:prstGeom prst="rect">
            <a:avLst/>
          </a:prstGeom>
          <a:noFill/>
        </p:spPr>
        <p:txBody>
          <a:bodyPr wrap="square">
            <a:spAutoFit/>
          </a:bodyPr>
          <a:lstStyle/>
          <a:p>
            <a:pPr>
              <a:defRPr sz="1000" b="1">
                <a:solidFill>
                  <a:srgbClr val="38BDF8"/>
                </a:solidFill>
              </a:defRPr>
            </a:pPr>
            <a:r>
              <a:t>[PENCAPAIAN PROYEK]</a:t>
            </a:r>
          </a:p>
          <a:p>
            <a:pPr>
              <a:defRPr sz="1500" b="1">
                <a:solidFill>
                  <a:srgbClr val="FFFFFF"/>
                </a:solidFill>
              </a:defRPr>
            </a:pPr>
            <a:r>
              <a:t>Kesimpulan Utama</a:t>
            </a:r>
          </a:p>
          <a:p>
            <a:pPr>
              <a:defRPr sz="1150">
                <a:solidFill>
                  <a:srgbClr val="CBD5E1"/>
                </a:solidFill>
              </a:defRPr>
            </a:pPr>
            <a:r>
              <a:t>•  1. Kepatuhan Regulasi &amp; AI Berpadu:</a:t>
            </a:r>
          </a:p>
          <a:p>
            <a:pPr>
              <a:defRPr sz="1150">
                <a:solidFill>
                  <a:srgbClr val="CBD5E1"/>
                </a:solidFill>
              </a:defRPr>
            </a:pPr>
            <a:r>
              <a:t>•     PharmaCAPA AI membuktikan bahwa kecerdasan buatan dapat diintegrasikan secara patuh dengan standar ketat BPOM CPOB dan ICH Q9/Q10.</a:t>
            </a:r>
          </a:p>
          <a:p>
            <a:pPr>
              <a:defRPr sz="1150">
                <a:solidFill>
                  <a:srgbClr val="CBD5E1"/>
                </a:solidFill>
              </a:defRPr>
            </a:pPr>
            <a:r>
              <a:t>•  </a:t>
            </a:r>
          </a:p>
          <a:p>
            <a:pPr>
              <a:defRPr sz="1150">
                <a:solidFill>
                  <a:srgbClr val="CBD5E1"/>
                </a:solidFill>
              </a:defRPr>
            </a:pPr>
            <a:r>
              <a:t>•  2. Efisiensi Nyata Lantai Produksi:</a:t>
            </a:r>
          </a:p>
          <a:p>
            <a:pPr>
              <a:defRPr sz="1150">
                <a:solidFill>
                  <a:srgbClr val="CBD5E1"/>
                </a:solidFill>
              </a:defRPr>
            </a:pPr>
            <a:r>
              <a:t>•     Transformasi dari dokumen kertas ke Pharma 4.0 memangkas lead time investigasi deviasi hingga 90% dan mencegah deviasi berulang.</a:t>
            </a:r>
          </a:p>
          <a:p>
            <a:pPr>
              <a:defRPr sz="1150">
                <a:solidFill>
                  <a:srgbClr val="CBD5E1"/>
                </a:solidFill>
              </a:defRPr>
            </a:pPr>
            <a:r>
              <a:t>•  </a:t>
            </a:r>
          </a:p>
          <a:p>
            <a:pPr>
              <a:defRPr sz="1150">
                <a:solidFill>
                  <a:srgbClr val="CBD5E1"/>
                </a:solidFill>
              </a:defRPr>
            </a:pPr>
            <a:r>
              <a:t>•  3. Memberdayakan Operator Lini:</a:t>
            </a:r>
          </a:p>
          <a:p>
            <a:pPr>
              <a:defRPr sz="1150">
                <a:solidFill>
                  <a:srgbClr val="CBD5E1"/>
                </a:solidFill>
              </a:defRPr>
            </a:pPr>
            <a:r>
              <a:t>•     Antarmuka mobile-first memungkinkan pelaporan langsung di ruang bersih tanpa melanggar batasan sterilitas.</a:t>
            </a:r>
          </a:p>
        </p:txBody>
      </p:sp>
      <p:sp>
        <p:nvSpPr>
          <p:cNvPr id="7" name="Rounded Rectangle 6"/>
          <p:cNvSpPr/>
          <p:nvPr/>
        </p:nvSpPr>
        <p:spPr>
          <a:xfrm>
            <a:off x="6217920" y="1645920"/>
            <a:ext cx="5212080" cy="4572000"/>
          </a:xfrm>
          <a:prstGeom prst="roundRect">
            <a:avLst/>
          </a:prstGeom>
          <a:solidFill>
            <a:srgbClr val="132A45"/>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783080"/>
            <a:ext cx="4846320" cy="4297680"/>
          </a:xfrm>
          <a:prstGeom prst="rect">
            <a:avLst/>
          </a:prstGeom>
          <a:noFill/>
        </p:spPr>
        <p:txBody>
          <a:bodyPr wrap="square">
            <a:spAutoFit/>
          </a:bodyPr>
          <a:lstStyle/>
          <a:p>
            <a:pPr>
              <a:defRPr sz="1000" b="1">
                <a:solidFill>
                  <a:srgbClr val="38BDF8"/>
                </a:solidFill>
              </a:defRPr>
            </a:pPr>
            <a:r>
              <a:t>[LANGKAH SELANJUTNYA]</a:t>
            </a:r>
          </a:p>
          <a:p>
            <a:pPr>
              <a:defRPr sz="1500" b="1">
                <a:solidFill>
                  <a:srgbClr val="FFFFFF"/>
                </a:solidFill>
              </a:defRPr>
            </a:pPr>
            <a:r>
              <a:t>Roadmap Pengembangan (Phase 2)</a:t>
            </a:r>
          </a:p>
          <a:p>
            <a:pPr>
              <a:defRPr sz="1150">
                <a:solidFill>
                  <a:srgbClr val="CBD5E1"/>
                </a:solidFill>
              </a:defRPr>
            </a:pPr>
            <a:r>
              <a:t>•  • Integrasi Langsung Sensor IoT / SCADA:</a:t>
            </a:r>
          </a:p>
          <a:p>
            <a:pPr>
              <a:defRPr sz="1150">
                <a:solidFill>
                  <a:srgbClr val="CBD5E1"/>
                </a:solidFill>
              </a:defRPr>
            </a:pPr>
            <a:r>
              <a:t>•    Pemicu deviasi otomatis ketika suhu FBD, tekanan kompresi, atau sensor partikel ruang bersih mendeteksi anomali OOS.</a:t>
            </a:r>
          </a:p>
          <a:p>
            <a:pPr>
              <a:defRPr sz="1150">
                <a:solidFill>
                  <a:srgbClr val="CBD5E1"/>
                </a:solidFill>
              </a:defRPr>
            </a:pPr>
            <a:r>
              <a:t>•  </a:t>
            </a:r>
          </a:p>
          <a:p>
            <a:pPr>
              <a:defRPr sz="1150">
                <a:solidFill>
                  <a:srgbClr val="CBD5E1"/>
                </a:solidFill>
              </a:defRPr>
            </a:pPr>
            <a:r>
              <a:t>•  • Audit Trail Terenkripsi Blockchain:</a:t>
            </a:r>
          </a:p>
          <a:p>
            <a:pPr>
              <a:defRPr sz="1150">
                <a:solidFill>
                  <a:srgbClr val="CBD5E1"/>
                </a:solidFill>
              </a:defRPr>
            </a:pPr>
            <a:r>
              <a:t>•    Penjaminan integritas data tanpa celah modifikasi (Tamper-Proof) untuk audit internasional FDA &amp; EMA.</a:t>
            </a:r>
          </a:p>
          <a:p>
            <a:pPr>
              <a:defRPr sz="1150">
                <a:solidFill>
                  <a:srgbClr val="CBD5E1"/>
                </a:solidFill>
              </a:defRPr>
            </a:pPr>
            <a:r>
              <a:t>•  </a:t>
            </a:r>
          </a:p>
          <a:p>
            <a:pPr>
              <a:defRPr sz="1150">
                <a:solidFill>
                  <a:srgbClr val="CBD5E1"/>
                </a:solidFill>
              </a:defRPr>
            </a:pPr>
            <a:r>
              <a:t>•  • PWA dengan Barcode / QR Scanner:</a:t>
            </a:r>
          </a:p>
          <a:p>
            <a:pPr>
              <a:defRPr sz="1150">
                <a:solidFill>
                  <a:srgbClr val="CBD5E1"/>
                </a:solidFill>
              </a:defRPr>
            </a:pPr>
            <a:r>
              <a:t>•    Pindai barcode drum bahan baku untuk memuat riwayat Electronic Batch Record (EBR) seketika.</a:t>
            </a:r>
          </a:p>
          <a:p>
            <a:pPr>
              <a:defRPr sz="1150">
                <a:solidFill>
                  <a:srgbClr val="CBD5E1"/>
                </a:solidFill>
              </a:defRPr>
            </a:pPr>
            <a:r>
              <a:t>•  </a:t>
            </a:r>
          </a:p>
          <a:p>
            <a:pPr>
              <a:defRPr sz="1150">
                <a:solidFill>
                  <a:srgbClr val="CBD5E1"/>
                </a:solidFill>
              </a:defRPr>
            </a:pPr>
            <a:r>
              <a:t>•  🌐 Tautan Resmi: https://rismawatilaila.github.io/pharmacapa/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